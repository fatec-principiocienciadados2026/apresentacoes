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57f2139-65f9-b1b5-cdd6-eda777fc36e5}">
          <p14:sldIdLst>
            <p14:sldId id="256"/>
          </p14:sldIdLst>
        </p14:section>
        <p14:section name="Papéis" id="{bed4f48e-0a6b-19d1-9444-4598b32024f7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ashboards" id="{c0b71905-c12b-ba0b-ccfe-7ec5a7167414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esc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7548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645920"/>
            <a:ext cx="2514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 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de Ciência de Dados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Papéis e Responsabilidades</a:t>
            </a:r>
            <a:endParaRPr lang="en-US" sz="2200" dirty="0"/>
          </a:p>
        </p:txBody>
      </p:sp>
      <p:sp>
        <p:nvSpPr>
          <p:cNvPr id="4" name="papel eng círculo"/>
          <p:cNvSpPr/>
          <p:nvPr/>
        </p:nvSpPr>
        <p:spPr>
          <a:xfrm>
            <a:off x="5715000" y="12344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pel eng" descr="papel e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544" y="1468984"/>
            <a:ext cx="399593" cy="399593"/>
          </a:xfrm>
          <a:prstGeom prst="rect">
            <a:avLst/>
          </a:prstGeom>
        </p:spPr>
      </p:pic>
      <p:sp>
        <p:nvSpPr>
          <p:cNvPr id="6" name="papel ana círculo"/>
          <p:cNvSpPr/>
          <p:nvPr/>
        </p:nvSpPr>
        <p:spPr>
          <a:xfrm>
            <a:off x="6903720" y="12344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papel ana" descr="papel a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264" y="1468984"/>
            <a:ext cx="399593" cy="399593"/>
          </a:xfrm>
          <a:prstGeom prst="rect">
            <a:avLst/>
          </a:prstGeom>
        </p:spPr>
      </p:pic>
      <p:sp>
        <p:nvSpPr>
          <p:cNvPr id="8" name="papel sci círculo"/>
          <p:cNvSpPr/>
          <p:nvPr/>
        </p:nvSpPr>
        <p:spPr>
          <a:xfrm>
            <a:off x="8092440" y="12344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papel sci" descr="papel sc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984" y="1468984"/>
            <a:ext cx="399593" cy="399593"/>
          </a:xfrm>
          <a:prstGeom prst="rect">
            <a:avLst/>
          </a:prstGeom>
        </p:spPr>
      </p:pic>
      <p:sp>
        <p:nvSpPr>
          <p:cNvPr id="10" name="papel ml círculo"/>
          <p:cNvSpPr/>
          <p:nvPr/>
        </p:nvSpPr>
        <p:spPr>
          <a:xfrm>
            <a:off x="5715000" y="24231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papel ml" descr="papel m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4" y="2657704"/>
            <a:ext cx="399593" cy="399593"/>
          </a:xfrm>
          <a:prstGeom prst="rect">
            <a:avLst/>
          </a:prstGeom>
        </p:spPr>
      </p:pic>
      <p:sp>
        <p:nvSpPr>
          <p:cNvPr id="12" name="papel bi círculo"/>
          <p:cNvSpPr/>
          <p:nvPr/>
        </p:nvSpPr>
        <p:spPr>
          <a:xfrm>
            <a:off x="6903720" y="24231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papel bi" descr="papel b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264" y="2657704"/>
            <a:ext cx="399593" cy="399593"/>
          </a:xfrm>
          <a:prstGeom prst="rect">
            <a:avLst/>
          </a:prstGeom>
        </p:spPr>
      </p:pic>
      <p:sp>
        <p:nvSpPr>
          <p:cNvPr id="14" name="papel gov círculo"/>
          <p:cNvSpPr/>
          <p:nvPr/>
        </p:nvSpPr>
        <p:spPr>
          <a:xfrm>
            <a:off x="8092440" y="2423160"/>
            <a:ext cx="868680" cy="8686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papel gov" descr="papel gov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6984" y="2657704"/>
            <a:ext cx="399593" cy="3995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Ciência de Dados?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área que combina alguns pilares:</a:t>
            </a:r>
            <a:endParaRPr lang="en-US" sz="1600" dirty="0"/>
          </a:p>
        </p:txBody>
      </p:sp>
      <p:sp>
        <p:nvSpPr>
          <p:cNvPr id="4" name="pilar Estatística"/>
          <p:cNvSpPr/>
          <p:nvPr/>
        </p:nvSpPr>
        <p:spPr>
          <a:xfrm>
            <a:off x="457200" y="1325880"/>
            <a:ext cx="2606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5" name="ícone Estatística círculo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ícone Estatística" descr="ícone Estatíst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887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325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</a:t>
            </a:r>
            <a:endParaRPr lang="en-US" sz="1700" dirty="0"/>
          </a:p>
        </p:txBody>
      </p:sp>
      <p:sp>
        <p:nvSpPr>
          <p:cNvPr id="8" name="pilar Computação"/>
          <p:cNvSpPr/>
          <p:nvPr/>
        </p:nvSpPr>
        <p:spPr>
          <a:xfrm>
            <a:off x="3268980" y="1325880"/>
            <a:ext cx="2606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9" name="ícone Computação círculo"/>
          <p:cNvSpPr/>
          <p:nvPr/>
        </p:nvSpPr>
        <p:spPr>
          <a:xfrm>
            <a:off x="345186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ícone Computação" descr="ícone Comput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90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91940" y="1325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1700" dirty="0"/>
          </a:p>
        </p:txBody>
      </p:sp>
      <p:sp>
        <p:nvSpPr>
          <p:cNvPr id="12" name="pilar Conhecimento de Negócio"/>
          <p:cNvSpPr/>
          <p:nvPr/>
        </p:nvSpPr>
        <p:spPr>
          <a:xfrm>
            <a:off x="6080760" y="1325880"/>
            <a:ext cx="2606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3" name="ícone Conhecimento de Negócio círculo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ícone Conhecimento de Negócio" descr="ícone Conhecimento de Negóc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70" y="15887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03720" y="1325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 Negócio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Raramente uma única pessoa faz tudo: o trabalho é dividido entre papéis no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dos dados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600" dirty="0"/>
          </a:p>
        </p:txBody>
      </p:sp>
      <p:sp>
        <p:nvSpPr>
          <p:cNvPr id="17" name="linha do ciclo"/>
          <p:cNvSpPr/>
          <p:nvPr/>
        </p:nvSpPr>
        <p:spPr>
          <a:xfrm>
            <a:off x="1143000" y="3520440"/>
            <a:ext cx="6858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8" name="etapa 1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39502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400" dirty="0"/>
          </a:p>
        </p:txBody>
      </p:sp>
      <p:sp>
        <p:nvSpPr>
          <p:cNvPr id="21" name="etapa 2"/>
          <p:cNvSpPr/>
          <p:nvPr/>
        </p:nvSpPr>
        <p:spPr>
          <a:xfrm>
            <a:off x="2194560" y="32004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1945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874520" y="39502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400" dirty="0"/>
          </a:p>
        </p:txBody>
      </p:sp>
      <p:sp>
        <p:nvSpPr>
          <p:cNvPr id="24" name="etapa 3"/>
          <p:cNvSpPr/>
          <p:nvPr/>
        </p:nvSpPr>
        <p:spPr>
          <a:xfrm>
            <a:off x="3566160" y="32004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5661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3246120" y="39502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400" dirty="0"/>
          </a:p>
        </p:txBody>
      </p:sp>
      <p:sp>
        <p:nvSpPr>
          <p:cNvPr id="27" name="etapa 4"/>
          <p:cNvSpPr/>
          <p:nvPr/>
        </p:nvSpPr>
        <p:spPr>
          <a:xfrm>
            <a:off x="4937760" y="32004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9377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4617720" y="39502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Análise/ Modelagem</a:t>
            </a:r>
            <a:endParaRPr lang="en-US" sz="1400" dirty="0"/>
          </a:p>
        </p:txBody>
      </p:sp>
      <p:sp>
        <p:nvSpPr>
          <p:cNvPr id="30" name="etapa 5"/>
          <p:cNvSpPr/>
          <p:nvPr/>
        </p:nvSpPr>
        <p:spPr>
          <a:xfrm>
            <a:off x="6309360" y="320040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3093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7"/>
          <p:cNvSpPr txBox="1"/>
          <p:nvPr/>
        </p:nvSpPr>
        <p:spPr>
          <a:xfrm>
            <a:off x="5989320" y="39502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400" dirty="0"/>
          </a:p>
        </p:txBody>
      </p:sp>
      <p:sp>
        <p:nvSpPr>
          <p:cNvPr id="33" name="etapa 6"/>
          <p:cNvSpPr/>
          <p:nvPr/>
        </p:nvSpPr>
        <p:spPr>
          <a:xfrm>
            <a:off x="7680960" y="320040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6809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0"/>
          <p:cNvSpPr txBox="1"/>
          <p:nvPr/>
        </p:nvSpPr>
        <p:spPr>
          <a:xfrm>
            <a:off x="7360920" y="395020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inel do papel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ícone do papel círculo"/>
          <p:cNvSpPr/>
          <p:nvPr/>
        </p:nvSpPr>
        <p:spPr>
          <a:xfrm>
            <a:off x="411480" y="502920"/>
            <a:ext cx="960120" cy="9601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" name="ícone do papel" descr="ícone do pa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9" y="733349"/>
            <a:ext cx="499262" cy="499262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1645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Engenheiro de Dados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880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3832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constrói a estrutura dos dados.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457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</a:t>
            </a:r>
            <a:endParaRPr lang="en-US" sz="1200" dirty="0"/>
          </a:p>
        </p:txBody>
      </p:sp>
      <p:sp>
        <p:nvSpPr>
          <p:cNvPr id="9" name="marcador"/>
          <p:cNvSpPr/>
          <p:nvPr/>
        </p:nvSpPr>
        <p:spPr>
          <a:xfrm>
            <a:off x="3611880" y="90525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9784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86868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 e mantém pipelines que coletam dados de várias fontes (sistemas, APIs, planilhas)</a:t>
            </a:r>
            <a:endParaRPr lang="en-US" sz="1500" dirty="0"/>
          </a:p>
        </p:txBody>
      </p:sp>
      <p:sp>
        <p:nvSpPr>
          <p:cNvPr id="12" name="marcador"/>
          <p:cNvSpPr/>
          <p:nvPr/>
        </p:nvSpPr>
        <p:spPr>
          <a:xfrm>
            <a:off x="3611880" y="170992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783080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14800" y="16733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processos de ETL/ELT (extrair, transformar e carregar)</a:t>
            </a:r>
            <a:endParaRPr lang="en-US" sz="1500" dirty="0"/>
          </a:p>
        </p:txBody>
      </p:sp>
      <p:sp>
        <p:nvSpPr>
          <p:cNvPr id="15" name="marcador"/>
          <p:cNvSpPr/>
          <p:nvPr/>
        </p:nvSpPr>
        <p:spPr>
          <a:xfrm>
            <a:off x="3611880" y="251460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587752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114800" y="247802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dos bancos de dados, data warehouses e data lakes</a:t>
            </a:r>
            <a:endParaRPr lang="en-US" sz="1500" dirty="0"/>
          </a:p>
        </p:txBody>
      </p:sp>
      <p:sp>
        <p:nvSpPr>
          <p:cNvPr id="18" name="marcador"/>
          <p:cNvSpPr/>
          <p:nvPr/>
        </p:nvSpPr>
        <p:spPr>
          <a:xfrm>
            <a:off x="3611880" y="331927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check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339242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114800" y="3282696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disponibilidade, desempenho e escalabilidade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3611880" y="39319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FERRAMENTAS</a:t>
            </a:r>
            <a:endParaRPr lang="en-US" sz="1200" dirty="0"/>
          </a:p>
        </p:txBody>
      </p:sp>
      <p:sp>
        <p:nvSpPr>
          <p:cNvPr id="22" name="ferramenta SQL"/>
          <p:cNvSpPr/>
          <p:nvPr/>
        </p:nvSpPr>
        <p:spPr>
          <a:xfrm>
            <a:off x="3611880" y="4297680"/>
            <a:ext cx="534924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3611880" y="4297680"/>
            <a:ext cx="534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24" name="ferramenta Python"/>
          <p:cNvSpPr/>
          <p:nvPr/>
        </p:nvSpPr>
        <p:spPr>
          <a:xfrm>
            <a:off x="4256532" y="4297680"/>
            <a:ext cx="795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4256532" y="429768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6" name="ferramenta Spark"/>
          <p:cNvSpPr/>
          <p:nvPr/>
        </p:nvSpPr>
        <p:spPr>
          <a:xfrm>
            <a:off x="5161788" y="4297680"/>
            <a:ext cx="7086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5161788" y="4297680"/>
            <a:ext cx="708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400" dirty="0"/>
          </a:p>
        </p:txBody>
      </p:sp>
      <p:sp>
        <p:nvSpPr>
          <p:cNvPr id="28" name="ferramenta Airflow"/>
          <p:cNvSpPr/>
          <p:nvPr/>
        </p:nvSpPr>
        <p:spPr>
          <a:xfrm>
            <a:off x="5980176" y="4297680"/>
            <a:ext cx="882396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5980176" y="4297680"/>
            <a:ext cx="882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inel do papel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ícone do papel círculo"/>
          <p:cNvSpPr/>
          <p:nvPr/>
        </p:nvSpPr>
        <p:spPr>
          <a:xfrm>
            <a:off x="411480" y="502920"/>
            <a:ext cx="960120" cy="9601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" name="ícone do papel" descr="ícone do pa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9" y="733349"/>
            <a:ext cx="499262" cy="499262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1645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 Dados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880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3832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perguntas sobre o que aconteceu e por quê.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457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</a:t>
            </a:r>
            <a:endParaRPr lang="en-US" sz="1200" dirty="0"/>
          </a:p>
        </p:txBody>
      </p:sp>
      <p:sp>
        <p:nvSpPr>
          <p:cNvPr id="9" name="marcador"/>
          <p:cNvSpPr/>
          <p:nvPr/>
        </p:nvSpPr>
        <p:spPr>
          <a:xfrm>
            <a:off x="3611880" y="905256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9784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868680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consultas, limpa e organiza dados</a:t>
            </a:r>
            <a:endParaRPr lang="en-US" sz="1500" dirty="0"/>
          </a:p>
        </p:txBody>
      </p:sp>
      <p:sp>
        <p:nvSpPr>
          <p:cNvPr id="12" name="marcador"/>
          <p:cNvSpPr/>
          <p:nvPr/>
        </p:nvSpPr>
        <p:spPr>
          <a:xfrm>
            <a:off x="3611880" y="146304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536192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14800" y="142646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 relatórios, indicadores e análises descritivas</a:t>
            </a:r>
            <a:endParaRPr lang="en-US" sz="1500" dirty="0"/>
          </a:p>
        </p:txBody>
      </p:sp>
      <p:sp>
        <p:nvSpPr>
          <p:cNvPr id="15" name="marcador"/>
          <p:cNvSpPr/>
          <p:nvPr/>
        </p:nvSpPr>
        <p:spPr>
          <a:xfrm>
            <a:off x="3611880" y="2267712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3408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114800" y="2231136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e mantém dashboards</a:t>
            </a:r>
            <a:endParaRPr lang="en-US" sz="1500" dirty="0"/>
          </a:p>
        </p:txBody>
      </p:sp>
      <p:sp>
        <p:nvSpPr>
          <p:cNvPr id="18" name="marcador"/>
          <p:cNvSpPr/>
          <p:nvPr/>
        </p:nvSpPr>
        <p:spPr>
          <a:xfrm>
            <a:off x="3611880" y="2825496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check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2898648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114800" y="2788920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 números em informações para gestores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3611880" y="39319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FERRAMENTAS</a:t>
            </a:r>
            <a:endParaRPr lang="en-US" sz="1200" dirty="0"/>
          </a:p>
        </p:txBody>
      </p:sp>
      <p:sp>
        <p:nvSpPr>
          <p:cNvPr id="22" name="ferramenta SQL"/>
          <p:cNvSpPr/>
          <p:nvPr/>
        </p:nvSpPr>
        <p:spPr>
          <a:xfrm>
            <a:off x="3611880" y="4297680"/>
            <a:ext cx="534924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3611880" y="4297680"/>
            <a:ext cx="5349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24" name="ferramenta Excel"/>
          <p:cNvSpPr/>
          <p:nvPr/>
        </p:nvSpPr>
        <p:spPr>
          <a:xfrm>
            <a:off x="4256532" y="4297680"/>
            <a:ext cx="7086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4256532" y="4297680"/>
            <a:ext cx="708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26" name="ferramenta Power BI"/>
          <p:cNvSpPr/>
          <p:nvPr/>
        </p:nvSpPr>
        <p:spPr>
          <a:xfrm>
            <a:off x="5074920" y="4297680"/>
            <a:ext cx="969264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5074920" y="429768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8" name="ferramenta Tableau"/>
          <p:cNvSpPr/>
          <p:nvPr/>
        </p:nvSpPr>
        <p:spPr>
          <a:xfrm>
            <a:off x="6153912" y="4297680"/>
            <a:ext cx="882396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153912" y="4297680"/>
            <a:ext cx="882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</p:txBody>
      </p:sp>
      <p:sp>
        <p:nvSpPr>
          <p:cNvPr id="30" name="ferramenta Looker"/>
          <p:cNvSpPr/>
          <p:nvPr/>
        </p:nvSpPr>
        <p:spPr>
          <a:xfrm>
            <a:off x="7146036" y="4297680"/>
            <a:ext cx="795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146036" y="429768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inel do papel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ícone do papel círculo"/>
          <p:cNvSpPr/>
          <p:nvPr/>
        </p:nvSpPr>
        <p:spPr>
          <a:xfrm>
            <a:off x="411480" y="502920"/>
            <a:ext cx="960120" cy="9601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" name="ícone do papel" descr="ícone do pa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9" y="733349"/>
            <a:ext cx="499262" cy="499262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1645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Cientista de Dados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880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3832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 no que vai acontecer e no que deveria ser feito.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457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</a:t>
            </a:r>
            <a:endParaRPr lang="en-US" sz="1200" dirty="0"/>
          </a:p>
        </p:txBody>
      </p:sp>
      <p:sp>
        <p:nvSpPr>
          <p:cNvPr id="9" name="marcador"/>
          <p:cNvSpPr/>
          <p:nvPr/>
        </p:nvSpPr>
        <p:spPr>
          <a:xfrm>
            <a:off x="3611880" y="905256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9784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86868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modelos estatísticos e de machine learning (previsão de vendas, detecção de fraude, recomendações)</a:t>
            </a:r>
            <a:endParaRPr lang="en-US" sz="1500" dirty="0"/>
          </a:p>
        </p:txBody>
      </p:sp>
      <p:sp>
        <p:nvSpPr>
          <p:cNvPr id="12" name="marcador"/>
          <p:cNvSpPr/>
          <p:nvPr/>
        </p:nvSpPr>
        <p:spPr>
          <a:xfrm>
            <a:off x="3611880" y="170992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783080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14800" y="1673352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hipóteses e faz experimentos</a:t>
            </a:r>
            <a:endParaRPr lang="en-US" sz="1500" dirty="0"/>
          </a:p>
        </p:txBody>
      </p:sp>
      <p:sp>
        <p:nvSpPr>
          <p:cNvPr id="15" name="marcador"/>
          <p:cNvSpPr/>
          <p:nvPr/>
        </p:nvSpPr>
        <p:spPr>
          <a:xfrm>
            <a:off x="3611880" y="2267712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3408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114800" y="2231136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a qualidade e as limitações dos modelos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3611880" y="39319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FERRAMENTAS</a:t>
            </a:r>
            <a:endParaRPr lang="en-US" sz="1200" dirty="0"/>
          </a:p>
        </p:txBody>
      </p:sp>
      <p:sp>
        <p:nvSpPr>
          <p:cNvPr id="19" name="ferramenta Python"/>
          <p:cNvSpPr/>
          <p:nvPr/>
        </p:nvSpPr>
        <p:spPr>
          <a:xfrm>
            <a:off x="3611880" y="4297680"/>
            <a:ext cx="79552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3611880" y="429768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1" name="ferramenta R"/>
          <p:cNvSpPr/>
          <p:nvPr/>
        </p:nvSpPr>
        <p:spPr>
          <a:xfrm>
            <a:off x="4517136" y="4297680"/>
            <a:ext cx="361188" cy="384048"/>
          </a:xfrm>
          <a:prstGeom prst="roundRect">
            <a:avLst>
              <a:gd name="adj" fmla="val 53165"/>
            </a:avLst>
          </a:prstGeom>
          <a:solidFill>
            <a:schemeClr val="bg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17136" y="4297680"/>
            <a:ext cx="361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3" name="ferramenta scikit-learn"/>
          <p:cNvSpPr/>
          <p:nvPr/>
        </p:nvSpPr>
        <p:spPr>
          <a:xfrm>
            <a:off x="4988052" y="4297680"/>
            <a:ext cx="1316736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4988052" y="429768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5" name="ferramenta Estatística aplicada"/>
          <p:cNvSpPr/>
          <p:nvPr/>
        </p:nvSpPr>
        <p:spPr>
          <a:xfrm>
            <a:off x="6414516" y="4297680"/>
            <a:ext cx="201168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414516" y="4297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aplicada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inel do papel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" name="ícone do papel círculo"/>
          <p:cNvSpPr/>
          <p:nvPr/>
        </p:nvSpPr>
        <p:spPr>
          <a:xfrm>
            <a:off x="411480" y="502920"/>
            <a:ext cx="960120" cy="9601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" name="ícone do papel" descr="ícone do pa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9" y="733349"/>
            <a:ext cx="499262" cy="499262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1645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Engenheiro de Machine Learning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880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3832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o modelo do laboratório para a produção.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457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</a:t>
            </a:r>
            <a:endParaRPr lang="en-US" sz="1200" dirty="0"/>
          </a:p>
        </p:txBody>
      </p:sp>
      <p:sp>
        <p:nvSpPr>
          <p:cNvPr id="9" name="marcador"/>
          <p:cNvSpPr/>
          <p:nvPr/>
        </p:nvSpPr>
        <p:spPr>
          <a:xfrm>
            <a:off x="3611880" y="905256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9784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86868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o modelo em funcionamento dentro do sistema real após os testes</a:t>
            </a:r>
            <a:endParaRPr lang="en-US" sz="1500" dirty="0"/>
          </a:p>
        </p:txBody>
      </p:sp>
      <p:sp>
        <p:nvSpPr>
          <p:cNvPr id="12" name="marcador"/>
          <p:cNvSpPr/>
          <p:nvPr/>
        </p:nvSpPr>
        <p:spPr>
          <a:xfrm>
            <a:off x="3611880" y="170992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783080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14800" y="16733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o desempenho (o modelo pode "envelhecer" conforme os dados mudam)</a:t>
            </a:r>
            <a:endParaRPr lang="en-US" sz="1500" dirty="0"/>
          </a:p>
        </p:txBody>
      </p:sp>
      <p:sp>
        <p:nvSpPr>
          <p:cNvPr id="15" name="marcador"/>
          <p:cNvSpPr/>
          <p:nvPr/>
        </p:nvSpPr>
        <p:spPr>
          <a:xfrm>
            <a:off x="3611880" y="251460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587752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114800" y="2478024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o treinamento e a implantação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3611880" y="39319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FERRAMENTAS</a:t>
            </a:r>
            <a:endParaRPr lang="en-US" sz="1200" dirty="0"/>
          </a:p>
        </p:txBody>
      </p:sp>
      <p:sp>
        <p:nvSpPr>
          <p:cNvPr id="19" name="ferramenta Jenkins"/>
          <p:cNvSpPr/>
          <p:nvPr/>
        </p:nvSpPr>
        <p:spPr>
          <a:xfrm>
            <a:off x="3611880" y="4297680"/>
            <a:ext cx="882396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3611880" y="4297680"/>
            <a:ext cx="882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21" name="ferramenta CircleCI"/>
          <p:cNvSpPr/>
          <p:nvPr/>
        </p:nvSpPr>
        <p:spPr>
          <a:xfrm>
            <a:off x="4604004" y="4297680"/>
            <a:ext cx="969264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604004" y="429768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CircleCI</a:t>
            </a:r>
            <a:endParaRPr lang="en-US" sz="1400" dirty="0"/>
          </a:p>
        </p:txBody>
      </p:sp>
      <p:sp>
        <p:nvSpPr>
          <p:cNvPr id="23" name="ferramenta Selenium"/>
          <p:cNvSpPr/>
          <p:nvPr/>
        </p:nvSpPr>
        <p:spPr>
          <a:xfrm>
            <a:off x="5682996" y="4297680"/>
            <a:ext cx="969264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682996" y="429768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inel do papel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" name="ícone do papel círculo"/>
          <p:cNvSpPr/>
          <p:nvPr/>
        </p:nvSpPr>
        <p:spPr>
          <a:xfrm>
            <a:off x="411480" y="502920"/>
            <a:ext cx="960120" cy="9601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" name="ícone do papel" descr="ícone do pa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9" y="733349"/>
            <a:ext cx="499262" cy="499262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1645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 BI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880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3832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próximo do analista de dados, mas focado em inteligência para gestão.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457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</a:t>
            </a:r>
            <a:endParaRPr lang="en-US" sz="1200" dirty="0"/>
          </a:p>
        </p:txBody>
      </p:sp>
      <p:sp>
        <p:nvSpPr>
          <p:cNvPr id="9" name="marcador"/>
          <p:cNvSpPr/>
          <p:nvPr/>
        </p:nvSpPr>
        <p:spPr>
          <a:xfrm>
            <a:off x="3611880" y="905256"/>
            <a:ext cx="292608" cy="29260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9784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86868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indicadores (KPIs) junto com a área de negócio</a:t>
            </a:r>
            <a:endParaRPr lang="en-US" sz="1500" dirty="0"/>
          </a:p>
        </p:txBody>
      </p:sp>
      <p:sp>
        <p:nvSpPr>
          <p:cNvPr id="12" name="marcador"/>
          <p:cNvSpPr/>
          <p:nvPr/>
        </p:nvSpPr>
        <p:spPr>
          <a:xfrm>
            <a:off x="3611880" y="1709928"/>
            <a:ext cx="292608" cy="29260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783080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14800" y="16733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dados para relatórios (modelos dimensionais, cubos)</a:t>
            </a:r>
            <a:endParaRPr lang="en-US" sz="1500" dirty="0"/>
          </a:p>
        </p:txBody>
      </p:sp>
      <p:sp>
        <p:nvSpPr>
          <p:cNvPr id="15" name="marcador"/>
          <p:cNvSpPr/>
          <p:nvPr/>
        </p:nvSpPr>
        <p:spPr>
          <a:xfrm>
            <a:off x="3611880" y="2514600"/>
            <a:ext cx="292608" cy="29260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587752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114800" y="247802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frequentemente o principal construtor de painéis corporativos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inel do papel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ícone do papel círculo"/>
          <p:cNvSpPr/>
          <p:nvPr/>
        </p:nvSpPr>
        <p:spPr>
          <a:xfrm>
            <a:off x="411480" y="502920"/>
            <a:ext cx="960120" cy="9601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" name="ícone do papel" descr="ícone do pap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9" y="733349"/>
            <a:ext cx="499262" cy="499262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1645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Arquiteto e Governança de Dados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880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 &amp; Governance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3832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estrutura geral de dados da companhia, organiza e protege os dados com padrões.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457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</a:t>
            </a:r>
            <a:endParaRPr lang="en-US" sz="1200" dirty="0"/>
          </a:p>
        </p:txBody>
      </p:sp>
      <p:sp>
        <p:nvSpPr>
          <p:cNvPr id="9" name="marcador"/>
          <p:cNvSpPr/>
          <p:nvPr/>
        </p:nvSpPr>
        <p:spPr>
          <a:xfrm>
            <a:off x="3611880" y="905256"/>
            <a:ext cx="292608" cy="29260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9784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86868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Zela pela qualidade e define o uso correto dos dados de um domínio</a:t>
            </a:r>
            <a:endParaRPr lang="en-US" sz="1500" dirty="0"/>
          </a:p>
        </p:txBody>
      </p:sp>
      <p:sp>
        <p:nvSpPr>
          <p:cNvPr id="12" name="marcador"/>
          <p:cNvSpPr/>
          <p:nvPr/>
        </p:nvSpPr>
        <p:spPr>
          <a:xfrm>
            <a:off x="3611880" y="1709928"/>
            <a:ext cx="292608" cy="29260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783080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14800" y="1673352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conformidade com leis (LGPD) e privacidade</a:t>
            </a:r>
            <a:endParaRPr lang="en-US" sz="1500" dirty="0"/>
          </a:p>
        </p:txBody>
      </p:sp>
      <p:sp>
        <p:nvSpPr>
          <p:cNvPr id="15" name="marcador"/>
          <p:cNvSpPr/>
          <p:nvPr/>
        </p:nvSpPr>
        <p:spPr>
          <a:xfrm>
            <a:off x="3611880" y="2267712"/>
            <a:ext cx="292608" cy="29260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3408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114800" y="2231136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pela estratégia de dados da empresa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em Sistemas de Informação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interface visual que reúne, em uma única tela, indicadores para acompanhar situações e apoiar a tomada de decisão.</a:t>
            </a:r>
            <a:endParaRPr lang="en-US" sz="1800" dirty="0"/>
          </a:p>
        </p:txBody>
      </p:sp>
      <p:sp>
        <p:nvSpPr>
          <p:cNvPr id="4" name="destaque"/>
          <p:cNvSpPr/>
          <p:nvPr/>
        </p:nvSpPr>
        <p:spPr>
          <a:xfrm>
            <a:off x="457200" y="2743200"/>
            <a:ext cx="4206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74320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é a camada de apresentação que transforma o dado em informação para decisão.</a:t>
            </a:r>
            <a:endParaRPr lang="en-US" sz="1800" dirty="0"/>
          </a:p>
        </p:txBody>
      </p:sp>
      <p:sp>
        <p:nvSpPr>
          <p:cNvPr id="6" name="painel do carro"/>
          <p:cNvSpPr/>
          <p:nvPr/>
        </p:nvSpPr>
        <p:spPr>
          <a:xfrm>
            <a:off x="5029200" y="1051560"/>
            <a:ext cx="3657600" cy="329184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035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PAINEL DE UM CARRO</a:t>
            </a:r>
            <a:endParaRPr lang="en-US" sz="1200" dirty="0"/>
          </a:p>
        </p:txBody>
      </p:sp>
      <p:sp>
        <p:nvSpPr>
          <p:cNvPr id="8" name="ícone Velocidade círculo"/>
          <p:cNvSpPr/>
          <p:nvPr/>
        </p:nvSpPr>
        <p:spPr>
          <a:xfrm>
            <a:off x="5458968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ícone Velocidade" descr="ícone Velocid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0418" y="186309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25780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400" dirty="0"/>
          </a:p>
        </p:txBody>
      </p:sp>
      <p:sp>
        <p:nvSpPr>
          <p:cNvPr id="11" name="ícone Combustível círculo"/>
          <p:cNvSpPr/>
          <p:nvPr/>
        </p:nvSpPr>
        <p:spPr>
          <a:xfrm>
            <a:off x="6528816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ícone Combustível" descr="ícone Combustív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266" y="18630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27648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Combustível</a:t>
            </a:r>
            <a:endParaRPr lang="en-US" sz="1400" dirty="0"/>
          </a:p>
        </p:txBody>
      </p:sp>
      <p:sp>
        <p:nvSpPr>
          <p:cNvPr id="14" name="ícone Problemas círculo"/>
          <p:cNvSpPr/>
          <p:nvPr/>
        </p:nvSpPr>
        <p:spPr>
          <a:xfrm>
            <a:off x="7598664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ícone Problemas" descr="ícone Problem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114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97496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303520" y="30175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vê velocidade, combustível e eventuais problemas no veículo — e isso leva a uma tomada de decisão.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fluxo e conceitos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APRESENTAÇÃO</a:t>
            </a:r>
            <a:endParaRPr lang="en-US" sz="1200" dirty="0"/>
          </a:p>
        </p:txBody>
      </p:sp>
      <p:sp>
        <p:nvSpPr>
          <p:cNvPr id="4" name="etapa Sistemas transacionais (ERP, CRM)"/>
          <p:cNvSpPr/>
          <p:nvPr/>
        </p:nvSpPr>
        <p:spPr>
          <a:xfrm>
            <a:off x="457200" y="1216152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pic>
        <p:nvPicPr>
          <p:cNvPr id="5" name="ícone Sistemas transacionais (ERP, CRM)" descr="Sistemas transacionais (ERP, CRM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930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transacionais (ERP, CRM)</a:t>
            </a:r>
            <a:endParaRPr lang="en-US" sz="1200" dirty="0"/>
          </a:p>
        </p:txBody>
      </p:sp>
      <p:sp>
        <p:nvSpPr>
          <p:cNvPr id="7" name="seta"/>
          <p:cNvSpPr/>
          <p:nvPr/>
        </p:nvSpPr>
        <p:spPr>
          <a:xfrm rot="5400000">
            <a:off x="1929384" y="1536192"/>
            <a:ext cx="155448" cy="228600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8" name="etapa Data Warehouse"/>
          <p:cNvSpPr/>
          <p:nvPr/>
        </p:nvSpPr>
        <p:spPr>
          <a:xfrm>
            <a:off x="2171700" y="1216152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pic>
        <p:nvPicPr>
          <p:cNvPr id="9" name="ícone Data Warehouse" descr="Data Ware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28930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1742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200" dirty="0"/>
          </a:p>
        </p:txBody>
      </p:sp>
      <p:sp>
        <p:nvSpPr>
          <p:cNvPr id="11" name="seta"/>
          <p:cNvSpPr/>
          <p:nvPr/>
        </p:nvSpPr>
        <p:spPr>
          <a:xfrm rot="5400000">
            <a:off x="3643884" y="1536192"/>
            <a:ext cx="155448" cy="228600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12" name="etapa Ferramenta de BI"/>
          <p:cNvSpPr/>
          <p:nvPr/>
        </p:nvSpPr>
        <p:spPr>
          <a:xfrm>
            <a:off x="3886200" y="1216152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pic>
        <p:nvPicPr>
          <p:cNvPr id="13" name="ícone Ferramenta de BI" descr="Ferramenta de B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8930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3192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BI</a:t>
            </a:r>
            <a:endParaRPr lang="en-US" sz="1200" dirty="0"/>
          </a:p>
        </p:txBody>
      </p:sp>
      <p:sp>
        <p:nvSpPr>
          <p:cNvPr id="15" name="seta"/>
          <p:cNvSpPr/>
          <p:nvPr/>
        </p:nvSpPr>
        <p:spPr>
          <a:xfrm rot="5400000">
            <a:off x="5358384" y="1536192"/>
            <a:ext cx="155448" cy="228600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16" name="etapa Dashboard"/>
          <p:cNvSpPr/>
          <p:nvPr/>
        </p:nvSpPr>
        <p:spPr>
          <a:xfrm>
            <a:off x="5600700" y="1216152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pic>
        <p:nvPicPr>
          <p:cNvPr id="17" name="ícone Dashboard" descr="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128930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4642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seta"/>
          <p:cNvSpPr/>
          <p:nvPr/>
        </p:nvSpPr>
        <p:spPr>
          <a:xfrm rot="5400000">
            <a:off x="7072884" y="1536192"/>
            <a:ext cx="155448" cy="228600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20" name="etapa Tomada de decisão"/>
          <p:cNvSpPr/>
          <p:nvPr/>
        </p:nvSpPr>
        <p:spPr>
          <a:xfrm>
            <a:off x="7315200" y="1216152"/>
            <a:ext cx="1371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pic>
        <p:nvPicPr>
          <p:cNvPr id="21" name="ícone Tomada de decisão" descr="Tomada de decis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28930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36092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 de decisão</a:t>
            </a:r>
            <a:endParaRPr lang="en-US" sz="1200" dirty="0"/>
          </a:p>
        </p:txBody>
      </p:sp>
      <p:sp>
        <p:nvSpPr>
          <p:cNvPr id="23" name="conceito KPI"/>
          <p:cNvSpPr/>
          <p:nvPr/>
        </p:nvSpPr>
        <p:spPr>
          <a:xfrm>
            <a:off x="457200" y="2240280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ícone KPI círculo"/>
          <p:cNvSpPr/>
          <p:nvPr/>
        </p:nvSpPr>
        <p:spPr>
          <a:xfrm>
            <a:off x="594360" y="23774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ícone KPI" descr="ícone KP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32" y="2469612"/>
            <a:ext cx="199705" cy="199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78992" y="2377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594360" y="2807208"/>
            <a:ext cx="2331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desempenho, como faturamento mensal ou tempo médio de atendimento</a:t>
            </a:r>
            <a:endParaRPr lang="en-US" sz="1300" dirty="0"/>
          </a:p>
        </p:txBody>
      </p:sp>
      <p:sp>
        <p:nvSpPr>
          <p:cNvPr id="28" name="conceito Meta"/>
          <p:cNvSpPr/>
          <p:nvPr/>
        </p:nvSpPr>
        <p:spPr>
          <a:xfrm>
            <a:off x="3268980" y="2240280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ícone Meta círculo"/>
          <p:cNvSpPr/>
          <p:nvPr/>
        </p:nvSpPr>
        <p:spPr>
          <a:xfrm>
            <a:off x="3406140" y="23774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ícone Meta" descr="ícone Met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8312" y="2469612"/>
            <a:ext cx="199705" cy="19970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890772" y="2377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3406140" y="2807208"/>
            <a:ext cx="2331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desejado para o KPI</a:t>
            </a:r>
            <a:endParaRPr lang="en-US" sz="1300" dirty="0"/>
          </a:p>
        </p:txBody>
      </p:sp>
      <p:sp>
        <p:nvSpPr>
          <p:cNvPr id="33" name="conceito Métrica x Indicador"/>
          <p:cNvSpPr/>
          <p:nvPr/>
        </p:nvSpPr>
        <p:spPr>
          <a:xfrm>
            <a:off x="6080760" y="2240280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ícone Métrica x Indicador círculo"/>
          <p:cNvSpPr/>
          <p:nvPr/>
        </p:nvSpPr>
        <p:spPr>
          <a:xfrm>
            <a:off x="6217920" y="237744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5" name="ícone Métrica x Indicador" descr="ícone Métrica x Indicado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0092" y="2469612"/>
            <a:ext cx="199705" cy="19970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702552" y="2377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x Indicador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6217920" y="2807208"/>
            <a:ext cx="2331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é qualquer medida; indicador é ligado a um objetivo</a:t>
            </a:r>
            <a:endParaRPr lang="en-US" sz="1300" dirty="0"/>
          </a:p>
        </p:txBody>
      </p:sp>
      <p:sp>
        <p:nvSpPr>
          <p:cNvPr id="38" name="conceito Drill-down"/>
          <p:cNvSpPr/>
          <p:nvPr/>
        </p:nvSpPr>
        <p:spPr>
          <a:xfrm>
            <a:off x="457200" y="3493008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ícone Drill-down círculo"/>
          <p:cNvSpPr/>
          <p:nvPr/>
        </p:nvSpPr>
        <p:spPr>
          <a:xfrm>
            <a:off x="594360" y="363016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0" name="ícone Drill-down" descr="ícone Drill-dow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32" y="3722340"/>
            <a:ext cx="199705" cy="19970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078992" y="36301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1500" dirty="0"/>
          </a:p>
        </p:txBody>
      </p:sp>
      <p:sp>
        <p:nvSpPr>
          <p:cNvPr id="42" name="Text 31"/>
          <p:cNvSpPr txBox="1"/>
          <p:nvPr/>
        </p:nvSpPr>
        <p:spPr>
          <a:xfrm>
            <a:off x="594360" y="4059936"/>
            <a:ext cx="2331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macro para o micro</a:t>
            </a:r>
            <a:endParaRPr lang="en-US" sz="1300" dirty="0"/>
          </a:p>
        </p:txBody>
      </p:sp>
      <p:sp>
        <p:nvSpPr>
          <p:cNvPr id="43" name="conceito Filtros e segmentos"/>
          <p:cNvSpPr/>
          <p:nvPr/>
        </p:nvSpPr>
        <p:spPr>
          <a:xfrm>
            <a:off x="3268980" y="3493008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ícone Filtros e segmentos círculo"/>
          <p:cNvSpPr/>
          <p:nvPr/>
        </p:nvSpPr>
        <p:spPr>
          <a:xfrm>
            <a:off x="3406140" y="36301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ícone Filtros e segmentos" descr="ícone Filtros e segmento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8312" y="3722340"/>
            <a:ext cx="199705" cy="19970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3890772" y="36301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 segmentos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3406140" y="4059936"/>
            <a:ext cx="2331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Recortar o dado por período, região, produto</a:t>
            </a:r>
            <a:endParaRPr lang="en-US" sz="1300" dirty="0"/>
          </a:p>
        </p:txBody>
      </p:sp>
      <p:sp>
        <p:nvSpPr>
          <p:cNvPr id="48" name="conceito Alertas visuais"/>
          <p:cNvSpPr/>
          <p:nvPr/>
        </p:nvSpPr>
        <p:spPr>
          <a:xfrm>
            <a:off x="6080760" y="3493008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ícone Alertas visuais círculo"/>
          <p:cNvSpPr/>
          <p:nvPr/>
        </p:nvSpPr>
        <p:spPr>
          <a:xfrm>
            <a:off x="6217920" y="3630168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0" name="ícone Alertas visuais" descr="ícone Alertas visuai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0092" y="3722340"/>
            <a:ext cx="199705" cy="199705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6702552" y="36301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visuais</a:t>
            </a:r>
            <a:endParaRPr lang="en-US" sz="1500" dirty="0"/>
          </a:p>
        </p:txBody>
      </p:sp>
      <p:sp>
        <p:nvSpPr>
          <p:cNvPr id="52" name="Text 39"/>
          <p:cNvSpPr txBox="1"/>
          <p:nvPr/>
        </p:nvSpPr>
        <p:spPr>
          <a:xfrm>
            <a:off x="6217920" y="4059936"/>
            <a:ext cx="2331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para indicar desvios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criação de um dashboard:</a:t>
            </a:r>
            <a:endParaRPr lang="en-US" sz="1500" dirty="0"/>
          </a:p>
        </p:txBody>
      </p:sp>
      <p:sp>
        <p:nvSpPr>
          <p:cNvPr id="4" name="número 1"/>
          <p:cNvSpPr/>
          <p:nvPr/>
        </p:nvSpPr>
        <p:spPr>
          <a:xfrm>
            <a:off x="457200" y="12801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9304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objetivo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7" name="número 2"/>
          <p:cNvSpPr/>
          <p:nvPr/>
        </p:nvSpPr>
        <p:spPr>
          <a:xfrm>
            <a:off x="457200" y="17556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764792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indicadores: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9 KPIs principais</a:t>
            </a:r>
            <a:endParaRPr lang="en-US" sz="1500" dirty="0"/>
          </a:p>
        </p:txBody>
      </p:sp>
      <p:sp>
        <p:nvSpPr>
          <p:cNvPr id="10" name="número 3"/>
          <p:cNvSpPr/>
          <p:nvPr/>
        </p:nvSpPr>
        <p:spPr>
          <a:xfrm>
            <a:off x="457200" y="22311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240280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visual: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importante sempre no topo, à esquerda</a:t>
            </a:r>
            <a:endParaRPr lang="en-US" sz="1500" dirty="0"/>
          </a:p>
        </p:txBody>
      </p:sp>
      <p:sp>
        <p:nvSpPr>
          <p:cNvPr id="13" name="número 4"/>
          <p:cNvSpPr/>
          <p:nvPr/>
        </p:nvSpPr>
        <p:spPr>
          <a:xfrm>
            <a:off x="457200" y="29260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935224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adequados ao dado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(ao lado)</a:t>
            </a:r>
            <a:endParaRPr lang="en-US" sz="1500" dirty="0"/>
          </a:p>
        </p:txBody>
      </p:sp>
      <p:sp>
        <p:nvSpPr>
          <p:cNvPr id="16" name="número 5"/>
          <p:cNvSpPr/>
          <p:nvPr/>
        </p:nvSpPr>
        <p:spPr>
          <a:xfrm>
            <a:off x="457200" y="34015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410712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os números junto com a meta; o número sozinho não diz nada</a:t>
            </a:r>
            <a:endParaRPr lang="en-US" sz="1500" dirty="0"/>
          </a:p>
        </p:txBody>
      </p:sp>
      <p:sp>
        <p:nvSpPr>
          <p:cNvPr id="19" name="número 6"/>
          <p:cNvSpPr/>
          <p:nvPr/>
        </p:nvSpPr>
        <p:spPr>
          <a:xfrm>
            <a:off x="457200" y="40965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105656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cores e formatos para os mesmos significados</a:t>
            </a:r>
            <a:endParaRPr lang="en-US" sz="1500" dirty="0"/>
          </a:p>
        </p:txBody>
      </p:sp>
      <p:sp>
        <p:nvSpPr>
          <p:cNvPr id="22" name="número 7"/>
          <p:cNvSpPr/>
          <p:nvPr/>
        </p:nvSpPr>
        <p:spPr>
          <a:xfrm>
            <a:off x="457200" y="47914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800600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confiáveis e atualizados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25" name="gráficos adequados"/>
          <p:cNvSpPr/>
          <p:nvPr/>
        </p:nvSpPr>
        <p:spPr>
          <a:xfrm>
            <a:off x="5440680" y="868680"/>
            <a:ext cx="3246120" cy="3794760"/>
          </a:xfrm>
          <a:prstGeom prst="roundRect">
            <a:avLst>
              <a:gd name="adj" fmla="val 4225"/>
            </a:avLst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715000" y="1051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ADEQUADOS AO DADO</a:t>
            </a:r>
            <a:endParaRPr lang="en-US" sz="1200" dirty="0"/>
          </a:p>
        </p:txBody>
      </p:sp>
      <p:sp>
        <p:nvSpPr>
          <p:cNvPr id="27" name="ícone Linha círculo"/>
          <p:cNvSpPr/>
          <p:nvPr/>
        </p:nvSpPr>
        <p:spPr>
          <a:xfrm>
            <a:off x="57150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ícone Linha" descr="ícone Lin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572768"/>
            <a:ext cx="237744" cy="237744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309360" y="14264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no tempo</a:t>
            </a:r>
            <a:endParaRPr lang="en-US" sz="1400" dirty="0"/>
          </a:p>
        </p:txBody>
      </p:sp>
      <p:sp>
        <p:nvSpPr>
          <p:cNvPr id="30" name="ícone Barras círculo"/>
          <p:cNvSpPr/>
          <p:nvPr/>
        </p:nvSpPr>
        <p:spPr>
          <a:xfrm>
            <a:off x="5715000" y="208483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ícone Barras" descr="ícone Barr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2194560"/>
            <a:ext cx="237744" cy="23774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6309360" y="20482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categorias</a:t>
            </a:r>
            <a:endParaRPr lang="en-US" sz="1400" dirty="0"/>
          </a:p>
        </p:txBody>
      </p:sp>
      <p:sp>
        <p:nvSpPr>
          <p:cNvPr id="33" name="ícone Cartão círculo"/>
          <p:cNvSpPr/>
          <p:nvPr/>
        </p:nvSpPr>
        <p:spPr>
          <a:xfrm>
            <a:off x="5715000" y="270662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4" name="ícone Cartão" descr="ícone Cart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2816352"/>
            <a:ext cx="237744" cy="237744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309360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KPI isolado</a:t>
            </a:r>
            <a:endParaRPr lang="en-US" sz="1400" dirty="0"/>
          </a:p>
        </p:txBody>
      </p:sp>
      <p:sp>
        <p:nvSpPr>
          <p:cNvPr id="36" name="ícone Mapa círculo"/>
          <p:cNvSpPr/>
          <p:nvPr/>
        </p:nvSpPr>
        <p:spPr>
          <a:xfrm>
            <a:off x="5715000" y="3328416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7" name="ícone Mapa" descr="ícone Map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3438144"/>
            <a:ext cx="237744" cy="23774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30936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geográficos</a:t>
            </a:r>
            <a:endParaRPr lang="en-US" sz="1400" dirty="0"/>
          </a:p>
        </p:txBody>
      </p:sp>
      <p:sp>
        <p:nvSpPr>
          <p:cNvPr id="39" name="ícone Evite círculo"/>
          <p:cNvSpPr/>
          <p:nvPr/>
        </p:nvSpPr>
        <p:spPr>
          <a:xfrm>
            <a:off x="5715000" y="39502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0" name="ícone Evite" descr="ícone Evi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4059936"/>
            <a:ext cx="237744" cy="237744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6309360" y="3913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com muitas fatias e efeitos 3D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cada área contribui no dashboard?</a:t>
            </a:r>
            <a:endParaRPr lang="en-US" sz="2800" dirty="0"/>
          </a:p>
        </p:txBody>
      </p:sp>
      <p:sp>
        <p:nvSpPr>
          <p:cNvPr id="3" name="contribuição Engenheiro de Dados"/>
          <p:cNvSpPr/>
          <p:nvPr/>
        </p:nvSpPr>
        <p:spPr>
          <a:xfrm>
            <a:off x="457200" y="109728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22304F"/>
          </a:solidFill>
          <a:ln/>
        </p:spPr>
      </p:sp>
      <p:sp>
        <p:nvSpPr>
          <p:cNvPr id="4" name="ícone Engenheiro de Dados círculo"/>
          <p:cNvSpPr/>
          <p:nvPr/>
        </p:nvSpPr>
        <p:spPr>
          <a:xfrm>
            <a:off x="621792" y="125272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ícone Engenheiro de Dados" descr="ícone Engenheiro de D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07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15214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de Dados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os dados cheguem limpos e íntegros</a:t>
            </a:r>
            <a:endParaRPr lang="en-US" sz="1400" dirty="0"/>
          </a:p>
        </p:txBody>
      </p:sp>
      <p:sp>
        <p:nvSpPr>
          <p:cNvPr id="7" name="ligação"/>
          <p:cNvSpPr/>
          <p:nvPr/>
        </p:nvSpPr>
        <p:spPr>
          <a:xfrm>
            <a:off x="5303520" y="15087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contribuição Arquiteto e Governança"/>
          <p:cNvSpPr/>
          <p:nvPr/>
        </p:nvSpPr>
        <p:spPr>
          <a:xfrm>
            <a:off x="457200" y="1993392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22304F"/>
          </a:solidFill>
          <a:ln/>
        </p:spPr>
      </p:sp>
      <p:sp>
        <p:nvSpPr>
          <p:cNvPr id="9" name="ícone Arquiteto e Governança círculo"/>
          <p:cNvSpPr/>
          <p:nvPr/>
        </p:nvSpPr>
        <p:spPr>
          <a:xfrm>
            <a:off x="621792" y="2148840"/>
            <a:ext cx="512064" cy="51206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ícone Arquiteto e Governança" descr="ícone Arquiteto e Governanç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7685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4825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e Governança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Assegura que os dados estejam confiáveis e legais</a:t>
            </a:r>
            <a:endParaRPr lang="en-US" sz="1400" dirty="0"/>
          </a:p>
        </p:txBody>
      </p:sp>
      <p:sp>
        <p:nvSpPr>
          <p:cNvPr id="12" name="ligação"/>
          <p:cNvSpPr/>
          <p:nvPr/>
        </p:nvSpPr>
        <p:spPr>
          <a:xfrm>
            <a:off x="5303520" y="2404872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contribuição Analista de BI"/>
          <p:cNvSpPr/>
          <p:nvPr/>
        </p:nvSpPr>
        <p:spPr>
          <a:xfrm>
            <a:off x="457200" y="2889504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22304F"/>
          </a:solidFill>
          <a:ln/>
        </p:spPr>
      </p:sp>
      <p:sp>
        <p:nvSpPr>
          <p:cNvPr id="14" name="ícone Analista de BI círculo"/>
          <p:cNvSpPr/>
          <p:nvPr/>
        </p:nvSpPr>
        <p:spPr>
          <a:xfrm>
            <a:off x="621792" y="3044952"/>
            <a:ext cx="512064" cy="51206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ícone Analista de BI" descr="ícone Analista de B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7296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294436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BI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os KPIs e desenha os dashboards</a:t>
            </a:r>
            <a:endParaRPr lang="en-US" sz="1400" dirty="0"/>
          </a:p>
        </p:txBody>
      </p:sp>
      <p:sp>
        <p:nvSpPr>
          <p:cNvPr id="17" name="ligação"/>
          <p:cNvSpPr/>
          <p:nvPr/>
        </p:nvSpPr>
        <p:spPr>
          <a:xfrm>
            <a:off x="5303520" y="3300984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contribuição Cientista de Dados"/>
          <p:cNvSpPr/>
          <p:nvPr/>
        </p:nvSpPr>
        <p:spPr>
          <a:xfrm>
            <a:off x="457200" y="3785616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22304F"/>
          </a:solidFill>
          <a:ln/>
        </p:spPr>
      </p:sp>
      <p:sp>
        <p:nvSpPr>
          <p:cNvPr id="19" name="ícone Cientista de Dados círculo"/>
          <p:cNvSpPr/>
          <p:nvPr/>
        </p:nvSpPr>
        <p:spPr>
          <a:xfrm>
            <a:off x="621792" y="3941064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ícone Cientista de Dados" descr="ícone Cientista de Dad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6908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8404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Cientista de Dados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os dashboards com previsões, como uma projeção de vendas no mês</a:t>
            </a:r>
            <a:endParaRPr lang="en-US" sz="1400" dirty="0"/>
          </a:p>
        </p:txBody>
      </p:sp>
      <p:sp>
        <p:nvSpPr>
          <p:cNvPr id="22" name="ligação"/>
          <p:cNvSpPr/>
          <p:nvPr/>
        </p:nvSpPr>
        <p:spPr>
          <a:xfrm>
            <a:off x="5303520" y="419709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chave"/>
          <p:cNvSpPr/>
          <p:nvPr/>
        </p:nvSpPr>
        <p:spPr>
          <a:xfrm>
            <a:off x="5577840" y="1508760"/>
            <a:ext cx="0" cy="268833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eta para dashboard"/>
          <p:cNvSpPr/>
          <p:nvPr/>
        </p:nvSpPr>
        <p:spPr>
          <a:xfrm>
            <a:off x="5577840" y="187452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dashboard"/>
          <p:cNvSpPr/>
          <p:nvPr/>
        </p:nvSpPr>
        <p:spPr>
          <a:xfrm>
            <a:off x="5989320" y="1097280"/>
            <a:ext cx="2697480" cy="1554480"/>
          </a:xfrm>
          <a:prstGeom prst="roundRect">
            <a:avLst>
              <a:gd name="adj" fmla="val 8824"/>
            </a:avLst>
          </a:prstGeom>
          <a:solidFill>
            <a:schemeClr val="accent1"/>
          </a:solidFill>
          <a:ln/>
        </p:spPr>
      </p:sp>
      <p:pic>
        <p:nvPicPr>
          <p:cNvPr id="26" name="ícone dashboard" descr="dashbo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28016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89320" y="1920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28" name="seta para gestor"/>
          <p:cNvSpPr/>
          <p:nvPr/>
        </p:nvSpPr>
        <p:spPr>
          <a:xfrm>
            <a:off x="7338060" y="265176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gestor"/>
          <p:cNvSpPr/>
          <p:nvPr/>
        </p:nvSpPr>
        <p:spPr>
          <a:xfrm>
            <a:off x="5989320" y="3108960"/>
            <a:ext cx="2697480" cy="1481328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/>
        </p:spPr>
      </p:sp>
      <p:pic>
        <p:nvPicPr>
          <p:cNvPr id="30" name="ícone gestor" descr="gest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29184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2084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617220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 dashboard para a tomada de decisão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encia de Dados">
  <a:themeElements>
    <a:clrScheme name="Ciencia de Dados">
      <a:dk1>
        <a:srgbClr val="16213E"/>
      </a:dk1>
      <a:lt1>
        <a:srgbClr val="FFFFFF"/>
      </a:lt1>
      <a:dk2>
        <a:srgbClr val="334155"/>
      </a:dk2>
      <a:lt2>
        <a:srgbClr val="EEF2F7"/>
      </a:lt2>
      <a:accent1>
        <a:srgbClr val="0D9488"/>
      </a:accent1>
      <a:accent2>
        <a:srgbClr val="D97706"/>
      </a:accent2>
      <a:accent3>
        <a:srgbClr val="4F46E5"/>
      </a:accent3>
      <a:accent4>
        <a:srgbClr val="DB2777"/>
      </a:accent4>
      <a:accent5>
        <a:srgbClr val="0284C7"/>
      </a:accent5>
      <a:accent6>
        <a:srgbClr val="7C3AED"/>
      </a:accent6>
      <a:hlink>
        <a:srgbClr val="4F46E5"/>
      </a:hlink>
      <a:folHlink>
        <a:srgbClr val="7C3AED"/>
      </a:folHlink>
    </a:clrScheme>
    <a:fontScheme name="Ciencia de Dado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Princípios de Ciência de Dados</dc:title>
  <dc:subject>PptxGenJS Presentation</dc:subject>
  <dc:creator>PptxGenJS</dc:creator>
  <cp:lastModifiedBy>PptxGenJS</cp:lastModifiedBy>
  <cp:revision>1</cp:revision>
  <dcterms:created xsi:type="dcterms:W3CDTF">2026-10-13T18:15:24Z</dcterms:created>
  <dcterms:modified xsi:type="dcterms:W3CDTF">2026-10-13T18:15:24Z</dcterms:modified>
</cp:coreProperties>
</file>