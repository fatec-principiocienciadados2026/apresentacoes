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3174A3-A37B-4DD6-B266-9350C292F426}">
  <a:tblStyle styleId="{543174A3-A37B-4DD6-B266-9350C292F4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escura">
  <p:cSld name="Capa escura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 escuro">
  <p:cSld name="Conteudo escuro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udo">
  <p:cSld name="Conteudo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inel lateral">
  <p:cSld name="Painel lateral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1480" y="169164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10" Type="http://schemas.openxmlformats.org/officeDocument/2006/relationships/image" Target="../media/image50.png"/><Relationship Id="rId9" Type="http://schemas.openxmlformats.org/officeDocument/2006/relationships/image" Target="../media/image12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35.png"/><Relationship Id="rId8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OLTP x OLAP</a:t>
            </a:r>
            <a:endParaRPr sz="4400"/>
          </a:p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lang="en-US" sz="2200">
                <a:solidFill>
                  <a:schemeClr val="accent1"/>
                </a:solidFill>
              </a:rPr>
              <a:t>Sistemas de Processamento de Informação</a:t>
            </a:r>
            <a:endParaRPr sz="2200"/>
          </a:p>
        </p:txBody>
      </p:sp>
      <p:sp>
        <p:nvSpPr>
          <p:cNvPr id="31" name="Google Shape;31;p7"/>
          <p:cNvSpPr/>
          <p:nvPr/>
        </p:nvSpPr>
        <p:spPr>
          <a:xfrm>
            <a:off x="5440680" y="1325880"/>
            <a:ext cx="1234440" cy="1234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LTP" id="32" name="Google Shape;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012" y="16962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/>
        </p:nvSpPr>
        <p:spPr>
          <a:xfrm>
            <a:off x="7360920" y="1325880"/>
            <a:ext cx="1234440" cy="123444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LAP" id="34" name="Google Shape;3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1252" y="16962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/>
          <p:nvPr/>
        </p:nvSpPr>
        <p:spPr>
          <a:xfrm>
            <a:off x="5257800" y="26974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OLTP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7178040" y="269748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OLAP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7"/>
          <p:cNvSpPr txBox="1"/>
          <p:nvPr/>
        </p:nvSpPr>
        <p:spPr>
          <a:xfrm>
            <a:off x="525780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operar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 txBox="1"/>
          <p:nvPr/>
        </p:nvSpPr>
        <p:spPr>
          <a:xfrm>
            <a:off x="717804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analisar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 txBox="1"/>
          <p:nvPr/>
        </p:nvSpPr>
        <p:spPr>
          <a:xfrm>
            <a:off x="6675120" y="1645920"/>
            <a:ext cx="685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2800"/>
          </a:p>
        </p:txBody>
      </p:sp>
      <p:sp>
        <p:nvSpPr>
          <p:cNvPr id="46" name="Google Shape;46;p8"/>
          <p:cNvSpPr/>
          <p:nvPr/>
        </p:nvSpPr>
        <p:spPr>
          <a:xfrm>
            <a:off x="457200" y="1783080"/>
            <a:ext cx="1371600" cy="137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ergunta" id="47" name="Google Shape;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167128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/>
        </p:nvSpPr>
        <p:spPr>
          <a:xfrm>
            <a:off x="2194560" y="1463040"/>
            <a:ext cx="6492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uma transação para vocês?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8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2800"/>
          </a:p>
        </p:txBody>
      </p:sp>
      <p:sp>
        <p:nvSpPr>
          <p:cNvPr id="56" name="Google Shape;56;p9"/>
          <p:cNvSpPr txBox="1"/>
          <p:nvPr/>
        </p:nvSpPr>
        <p:spPr>
          <a:xfrm>
            <a:off x="457200" y="105156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 conjunto de tarefas que só faz sentido se todas elas acontecerem juntas.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onto 1"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185" y="2621585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/>
        </p:nvSpPr>
        <p:spPr>
          <a:xfrm>
            <a:off x="1051560" y="2496312"/>
            <a:ext cx="3886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um passo falhar, nenhum deles faz sentido.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9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onto 2" id="61" name="Google Shape;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185" y="3490265"/>
            <a:ext cx="197510" cy="1975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/>
        </p:nvSpPr>
        <p:spPr>
          <a:xfrm>
            <a:off x="1051560" y="3364992"/>
            <a:ext cx="3886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conjunto de tarefas tem como objetivo atender um resultado final esperado.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5303520" y="1051560"/>
            <a:ext cx="3383280" cy="3429000"/>
          </a:xfrm>
          <a:prstGeom prst="roundRect">
            <a:avLst>
              <a:gd fmla="val 270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5577840" y="12344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EXEMPLO: PIX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5715000" y="173736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a" id="66" name="Google Shape;6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7822" y="191018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7635240" y="1737360"/>
            <a:ext cx="640080" cy="6400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uno" id="68" name="Google Shape;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8062" y="1910182"/>
            <a:ext cx="294437" cy="294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9"/>
          <p:cNvCxnSpPr/>
          <p:nvPr/>
        </p:nvCxnSpPr>
        <p:spPr>
          <a:xfrm>
            <a:off x="6492240" y="20574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" name="Google Shape;70;p9"/>
          <p:cNvSpPr txBox="1"/>
          <p:nvPr/>
        </p:nvSpPr>
        <p:spPr>
          <a:xfrm>
            <a:off x="6446520" y="16916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5532120" y="24231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7452360" y="24231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Bruno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5577840" y="292608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Tira R$ 30 da 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Coloca R$ 30 no Bruno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 txBox="1"/>
          <p:nvPr/>
        </p:nvSpPr>
        <p:spPr>
          <a:xfrm>
            <a:off x="5577840" y="374904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Os dois passos formam uma única transação.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2800"/>
          </a:p>
        </p:txBody>
      </p:sp>
      <p:sp>
        <p:nvSpPr>
          <p:cNvPr id="82" name="Google Shape;82;p10"/>
          <p:cNvSpPr txBox="1"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nosso exemplo, embora existam duas pessoas, as coisas só fazem sentido se agruparmos as duas em um bloco só: uma transação.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1691640"/>
            <a:ext cx="3291840" cy="2148840"/>
          </a:xfrm>
          <a:prstGeom prst="roundRect">
            <a:avLst>
              <a:gd fmla="val 425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/>
          <p:cNvSpPr txBox="1"/>
          <p:nvPr/>
        </p:nvSpPr>
        <p:spPr>
          <a:xfrm>
            <a:off x="685800" y="182880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UMA TRANSAÇÃO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685800" y="2194560"/>
            <a:ext cx="2834640" cy="640080"/>
          </a:xfrm>
          <a:prstGeom prst="roundRect">
            <a:avLst>
              <a:gd fmla="val 1428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822960" y="2350008"/>
            <a:ext cx="329184" cy="3291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"/>
          <p:cNvSpPr txBox="1"/>
          <p:nvPr/>
        </p:nvSpPr>
        <p:spPr>
          <a:xfrm>
            <a:off x="822960" y="23500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 txBox="1"/>
          <p:nvPr/>
        </p:nvSpPr>
        <p:spPr>
          <a:xfrm>
            <a:off x="1280160" y="21945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Tira R$ 30 da 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685800" y="2971800"/>
            <a:ext cx="2834640" cy="640080"/>
          </a:xfrm>
          <a:prstGeom prst="roundRect">
            <a:avLst>
              <a:gd fmla="val 1428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822960" y="3127248"/>
            <a:ext cx="329184" cy="32918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 txBox="1"/>
          <p:nvPr/>
        </p:nvSpPr>
        <p:spPr>
          <a:xfrm>
            <a:off x="822960" y="31272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 txBox="1"/>
          <p:nvPr/>
        </p:nvSpPr>
        <p:spPr>
          <a:xfrm>
            <a:off x="1280160" y="297180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 R$ 30 no Bruno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0"/>
          <p:cNvCxnSpPr/>
          <p:nvPr/>
        </p:nvCxnSpPr>
        <p:spPr>
          <a:xfrm>
            <a:off x="3886200" y="219456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10"/>
          <p:cNvSpPr/>
          <p:nvPr/>
        </p:nvSpPr>
        <p:spPr>
          <a:xfrm>
            <a:off x="4572000" y="1691640"/>
            <a:ext cx="4114800" cy="1051560"/>
          </a:xfrm>
          <a:prstGeom prst="roundRect">
            <a:avLst>
              <a:gd fmla="val 8696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4727448" y="1847088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Todos os passos deram certo" id="96" name="Google Shape;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3460" y="194310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/>
        </p:nvSpPr>
        <p:spPr>
          <a:xfrm>
            <a:off x="5230368" y="1847088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passos deram certo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4727448" y="2322576"/>
            <a:ext cx="3803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transação é confirmada por inteiro.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10"/>
          <p:cNvCxnSpPr/>
          <p:nvPr/>
        </p:nvCxnSpPr>
        <p:spPr>
          <a:xfrm>
            <a:off x="3886200" y="333756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10"/>
          <p:cNvSpPr/>
          <p:nvPr/>
        </p:nvSpPr>
        <p:spPr>
          <a:xfrm>
            <a:off x="4572000" y="2834640"/>
            <a:ext cx="4114800" cy="1051560"/>
          </a:xfrm>
          <a:prstGeom prst="roundRect">
            <a:avLst>
              <a:gd fmla="val 8696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4727448" y="2990088"/>
            <a:ext cx="384048" cy="384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Algum passo falhou" id="102" name="Google Shape;1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3460" y="308610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 txBox="1"/>
          <p:nvPr/>
        </p:nvSpPr>
        <p:spPr>
          <a:xfrm>
            <a:off x="5230368" y="2990088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 passo falhou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4727448" y="3465576"/>
            <a:ext cx="38039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Voltamos tudo como era antes, para não deixar nenhum passo pela metade.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fmla="val 1612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 executa tudo, ou não executa nada.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2800"/>
          </a:p>
        </p:txBody>
      </p:sp>
      <p:sp>
        <p:nvSpPr>
          <p:cNvPr id="114" name="Google Shape;114;p1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 bancos de dados, usamos algumas palavras para esse processo: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457200" y="1463040"/>
            <a:ext cx="2606040" cy="310896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GIN" id="117" name="Google Shape;1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626" y="1896466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1"/>
          <p:cNvSpPr txBox="1"/>
          <p:nvPr/>
        </p:nvSpPr>
        <p:spPr>
          <a:xfrm>
            <a:off x="685800" y="2560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685800" y="306324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 a transação.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594360" y="3931920"/>
            <a:ext cx="2331720" cy="502920"/>
          </a:xfrm>
          <a:prstGeom prst="roundRect">
            <a:avLst>
              <a:gd fmla="val 181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685800" y="393192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11"/>
          <p:cNvCxnSpPr/>
          <p:nvPr/>
        </p:nvCxnSpPr>
        <p:spPr>
          <a:xfrm>
            <a:off x="3081528" y="2057400"/>
            <a:ext cx="169164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11"/>
          <p:cNvSpPr/>
          <p:nvPr/>
        </p:nvSpPr>
        <p:spPr>
          <a:xfrm>
            <a:off x="3268980" y="1463040"/>
            <a:ext cx="2606040" cy="310896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3497580" y="169164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MMIT" id="125" name="Google Shape;1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2406" y="1896466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3497580" y="2560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COMMIT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 txBox="1"/>
          <p:nvPr/>
        </p:nvSpPr>
        <p:spPr>
          <a:xfrm>
            <a:off x="3497580" y="306324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Todos os passos foram executados com sucesso: confirma.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3406140" y="3931920"/>
            <a:ext cx="2331720" cy="502920"/>
          </a:xfrm>
          <a:prstGeom prst="roundRect">
            <a:avLst>
              <a:gd fmla="val 181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3497580" y="393192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Como o clique de salvar um arquivo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1"/>
          <p:cNvCxnSpPr/>
          <p:nvPr/>
        </p:nvCxnSpPr>
        <p:spPr>
          <a:xfrm>
            <a:off x="5893308" y="2057400"/>
            <a:ext cx="169164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11"/>
          <p:cNvSpPr/>
          <p:nvPr/>
        </p:nvSpPr>
        <p:spPr>
          <a:xfrm>
            <a:off x="6080760" y="1463040"/>
            <a:ext cx="2606040" cy="310896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6309360" y="1691640"/>
            <a:ext cx="731520" cy="7315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OLLBACK" id="133" name="Google Shape;13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4186" y="1896466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1"/>
          <p:cNvSpPr txBox="1"/>
          <p:nvPr/>
        </p:nvSpPr>
        <p:spPr>
          <a:xfrm>
            <a:off x="6309360" y="25603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ROLLBACK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6309360" y="3063240"/>
            <a:ext cx="2148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 passo deu erro: volta para o cenário original.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6217920" y="3931920"/>
            <a:ext cx="2331720" cy="502920"/>
          </a:xfrm>
          <a:prstGeom prst="roundRect">
            <a:avLst>
              <a:gd fmla="val 181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 txBox="1"/>
          <p:nvPr/>
        </p:nvSpPr>
        <p:spPr>
          <a:xfrm>
            <a:off x="6309360" y="393192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Como um Ctrl +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transaction</a:t>
            </a:r>
            <a:endParaRPr sz="2800"/>
          </a:p>
        </p:txBody>
      </p:sp>
      <p:sp>
        <p:nvSpPr>
          <p:cNvPr id="145" name="Google Shape;145;p12"/>
          <p:cNvSpPr/>
          <p:nvPr/>
        </p:nvSpPr>
        <p:spPr>
          <a:xfrm>
            <a:off x="457200" y="960120"/>
            <a:ext cx="4937760" cy="3483864"/>
          </a:xfrm>
          <a:prstGeom prst="roundRect">
            <a:avLst>
              <a:gd fmla="val 262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 txBox="1"/>
          <p:nvPr/>
        </p:nvSpPr>
        <p:spPr>
          <a:xfrm>
            <a:off x="731520" y="1143000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BEGIN 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731520" y="1426464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BEGIN TRANSACTION;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2"/>
          <p:cNvCxnSpPr/>
          <p:nvPr/>
        </p:nvCxnSpPr>
        <p:spPr>
          <a:xfrm>
            <a:off x="5440680" y="1568196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9" name="Google Shape;149;p12"/>
          <p:cNvSpPr/>
          <p:nvPr/>
        </p:nvSpPr>
        <p:spPr>
          <a:xfrm>
            <a:off x="5760720" y="1504188"/>
            <a:ext cx="128016" cy="128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5989320" y="1408176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 a transação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/>
        </p:nvSpPr>
        <p:spPr>
          <a:xfrm>
            <a:off x="731520" y="1709928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UPDATE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contas </a:t>
            </a: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SET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saldo = saldo - 30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2"/>
          <p:cNvCxnSpPr/>
          <p:nvPr/>
        </p:nvCxnSpPr>
        <p:spPr>
          <a:xfrm>
            <a:off x="5440680" y="1993392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3" name="Google Shape;153;p12"/>
          <p:cNvSpPr/>
          <p:nvPr/>
        </p:nvSpPr>
        <p:spPr>
          <a:xfrm>
            <a:off x="5760720" y="1929384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 txBox="1"/>
          <p:nvPr/>
        </p:nvSpPr>
        <p:spPr>
          <a:xfrm>
            <a:off x="5989320" y="183337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1: tira R$ 30 da Ana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731520" y="1993392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WHERE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titular = </a:t>
            </a:r>
            <a:r>
              <a:rPr b="0" i="0" lang="en-US" sz="14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'Ana'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731520" y="2276856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UPDATE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contas </a:t>
            </a: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SET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saldo = saldo + 30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12"/>
          <p:cNvCxnSpPr/>
          <p:nvPr/>
        </p:nvCxnSpPr>
        <p:spPr>
          <a:xfrm>
            <a:off x="5440680" y="2560320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p12"/>
          <p:cNvSpPr/>
          <p:nvPr/>
        </p:nvSpPr>
        <p:spPr>
          <a:xfrm>
            <a:off x="5760720" y="2496312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5989320" y="24003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2: coloca R$ 30 no Bruno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731520" y="2560320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WHERE 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titular = </a:t>
            </a:r>
            <a:r>
              <a:rPr b="0" i="0" lang="en-US" sz="14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'Bruno'</a:t>
            </a:r>
            <a:r>
              <a:rPr b="0" i="0" lang="en-US" sz="14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731520" y="2843784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COMMIT;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12"/>
          <p:cNvCxnSpPr/>
          <p:nvPr/>
        </p:nvCxnSpPr>
        <p:spPr>
          <a:xfrm>
            <a:off x="5440680" y="2985516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12"/>
          <p:cNvSpPr/>
          <p:nvPr/>
        </p:nvSpPr>
        <p:spPr>
          <a:xfrm>
            <a:off x="5760720" y="2921508"/>
            <a:ext cx="128016" cy="1280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5989320" y="2825496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chegou aqui sem erro: confirma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731520" y="3127248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END 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 txBox="1"/>
          <p:nvPr/>
        </p:nvSpPr>
        <p:spPr>
          <a:xfrm>
            <a:off x="731520" y="3410712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BEGIN CATCH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731520" y="3694176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    ROLLBACK;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2"/>
          <p:cNvCxnSpPr/>
          <p:nvPr/>
        </p:nvCxnSpPr>
        <p:spPr>
          <a:xfrm>
            <a:off x="5440680" y="3835908"/>
            <a:ext cx="274320" cy="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9" name="Google Shape;169;p12"/>
          <p:cNvSpPr/>
          <p:nvPr/>
        </p:nvSpPr>
        <p:spPr>
          <a:xfrm>
            <a:off x="5760720" y="3771900"/>
            <a:ext cx="128016" cy="12801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5989320" y="36758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 passo falhou: desfaz tudo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731520" y="3977640"/>
            <a:ext cx="4572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END CATCH;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OLTP (Online Transaction Processing)</a:t>
            </a:r>
            <a:endParaRPr sz="2800"/>
          </a:p>
        </p:txBody>
      </p:sp>
      <p:sp>
        <p:nvSpPr>
          <p:cNvPr id="179" name="Google Shape;179;p13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processamento de transações é o sistema que opera o dia a dia de uma organização.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Exemplos: ERP, PDV de supermercado, internet banking, e-commerce, sistema de reservas aéreas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457200" y="1481328"/>
            <a:ext cx="8229600" cy="4754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548640" y="158191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Finalidade"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1647749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 txBox="1"/>
          <p:nvPr/>
        </p:nvSpPr>
        <p:spPr>
          <a:xfrm>
            <a:off x="960120" y="1481328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423160" y="1481328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Registrar e manter as operações rotineiras. Exemplo: vendas, pagamentos, cadastros, reservas, movimentação bancária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Tipo de operação"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7" y="2123237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 txBox="1"/>
          <p:nvPr/>
        </p:nvSpPr>
        <p:spPr>
          <a:xfrm>
            <a:off x="960120" y="195681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operação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2423160" y="1956816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Muitas transações curtas e simples (INSERT, UPDATE, DELETE e consultas pontuais), executadas por muitos usuários ao mesmo tempo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57200" y="2432304"/>
            <a:ext cx="82296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"/>
          <p:cNvSpPr/>
          <p:nvPr/>
        </p:nvSpPr>
        <p:spPr>
          <a:xfrm>
            <a:off x="548640" y="252374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ados" id="191" name="Google Shape;1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7" y="2589581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 txBox="1"/>
          <p:nvPr/>
        </p:nvSpPr>
        <p:spPr>
          <a:xfrm>
            <a:off x="960120" y="2432304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2423160" y="2432304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Atuais e detalhados, refletindo o estado presente do negócio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548640" y="2990088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Modelagem" id="195" name="Google Shape;19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477" y="3055925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960120" y="2889504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2423160" y="2889504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Bancos de dados relacionais normalizados, para evitar redundâncias e garantir consistência nas atualizações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548640" y="346557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Integridade" id="200" name="Google Shape;20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477" y="3531413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 txBox="1"/>
          <p:nvPr/>
        </p:nvSpPr>
        <p:spPr>
          <a:xfrm>
            <a:off x="960120" y="3364992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2423160" y="3364992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Segue as propriedades ACID (Atomicidade, Consistência, Isolamento e Durabilidade). Exemplo: uma transferência bancária não pode parar pela metade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esempenho" id="204" name="Google Shape;20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4477" y="3997757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3"/>
          <p:cNvSpPr txBox="1"/>
          <p:nvPr/>
        </p:nvSpPr>
        <p:spPr>
          <a:xfrm>
            <a:off x="960120" y="38404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2423160" y="3840480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Medido por transações por segundo e tempo de resposta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548640" y="438912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Usuários" id="209" name="Google Shape;20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4477" y="4454957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960120" y="42976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2423160" y="4297680"/>
            <a:ext cx="617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Operadores, atendentes, caixas, clientes em sites ou aplicativos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411480" y="502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>
            <p:ph type="title"/>
          </p:nvPr>
        </p:nvSpPr>
        <p:spPr>
          <a:xfrm>
            <a:off x="411480" y="169164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Atomicidade</a:t>
            </a:r>
            <a:endParaRPr sz="2400"/>
          </a:p>
        </p:txBody>
      </p:sp>
      <p:sp>
        <p:nvSpPr>
          <p:cNvPr id="222" name="Google Shape;222;p14"/>
          <p:cNvSpPr txBox="1"/>
          <p:nvPr/>
        </p:nvSpPr>
        <p:spPr>
          <a:xfrm>
            <a:off x="41148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Propriedades ACID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411480" y="2788920"/>
            <a:ext cx="365760" cy="36576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114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868680" y="2788920"/>
            <a:ext cx="365760" cy="36576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325880" y="2788920"/>
            <a:ext cx="365760" cy="36576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13258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783080" y="2788920"/>
            <a:ext cx="365760" cy="36576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17830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411480" y="347472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Tudo ou nada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3611880" y="45720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DESMISTIFICANDO AS PROPRIEDADES ACID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3611880" y="822960"/>
            <a:ext cx="5074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todas as operações são executadas com sucesso, ou nenhuma é aplicada.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3611880" y="196596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3611880" y="2377440"/>
            <a:ext cx="502920" cy="50292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nota o estado anterior" id="236" name="Google Shape;2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2639" y="250819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4"/>
          <p:cNvSpPr txBox="1"/>
          <p:nvPr/>
        </p:nvSpPr>
        <p:spPr>
          <a:xfrm>
            <a:off x="4297680" y="237744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 o estado anterior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4"/>
          <p:cNvCxnSpPr/>
          <p:nvPr/>
        </p:nvCxnSpPr>
        <p:spPr>
          <a:xfrm>
            <a:off x="3863340" y="2907792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4"/>
          <p:cNvSpPr/>
          <p:nvPr/>
        </p:nvSpPr>
        <p:spPr>
          <a:xfrm>
            <a:off x="3611880" y="31089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ecuta os passos" id="240" name="Google Shape;2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2639" y="323971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/>
          <p:nvPr/>
        </p:nvSpPr>
        <p:spPr>
          <a:xfrm>
            <a:off x="4297680" y="310896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Executa os passos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4"/>
          <p:cNvCxnSpPr/>
          <p:nvPr/>
        </p:nvCxnSpPr>
        <p:spPr>
          <a:xfrm>
            <a:off x="3863340" y="3639312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4"/>
          <p:cNvSpPr/>
          <p:nvPr/>
        </p:nvSpPr>
        <p:spPr>
          <a:xfrm>
            <a:off x="3611880" y="3840480"/>
            <a:ext cx="502920" cy="5029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lhou? Volta ao estado anotado" id="244" name="Google Shape;24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2639" y="397123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4"/>
          <p:cNvSpPr txBox="1"/>
          <p:nvPr/>
        </p:nvSpPr>
        <p:spPr>
          <a:xfrm>
            <a:off x="4297680" y="3840480"/>
            <a:ext cx="4343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Falhou? Volta ao estado anotado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3611880" y="452628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banco de dados anota o estado anterior e, em caso de falha, volta a esse estado.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"/>
          <p:cNvSpPr txBox="1"/>
          <p:nvPr/>
        </p:nvSpPr>
        <p:spPr>
          <a:xfrm>
            <a:off x="411480" y="502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>
            <p:ph type="title"/>
          </p:nvPr>
        </p:nvSpPr>
        <p:spPr>
          <a:xfrm>
            <a:off x="411480" y="169164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Consistência</a:t>
            </a:r>
            <a:endParaRPr sz="2400"/>
          </a:p>
        </p:txBody>
      </p:sp>
      <p:sp>
        <p:nvSpPr>
          <p:cNvPr id="257" name="Google Shape;257;p15"/>
          <p:cNvSpPr txBox="1"/>
          <p:nvPr/>
        </p:nvSpPr>
        <p:spPr>
          <a:xfrm>
            <a:off x="41148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Propriedades ACID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11480" y="2788920"/>
            <a:ext cx="365760" cy="36576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4114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868680" y="2788920"/>
            <a:ext cx="365760" cy="36576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1325880" y="2788920"/>
            <a:ext cx="365760" cy="36576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13258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1783080" y="2788920"/>
            <a:ext cx="365760" cy="36576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17830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411480" y="347472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um estado válido para outro estado válido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3611880" y="50292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transação leva o banco de um estado válido para outro estado válido: nenhuma regra de integridade pode ser violada.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3611880" y="1691640"/>
            <a:ext cx="5074920" cy="1325880"/>
          </a:xfrm>
          <a:prstGeom prst="roundRect">
            <a:avLst>
              <a:gd fmla="val 689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3840480" y="18288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3840480" y="2130552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pessoa tem R$ 300 na conta e tenta uma compra de R$ 400. Com a regra de que a conta não pode ficar negativa, a transação inteira é rejeitada.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3611880" y="324612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COMANDOS PARA GARANTIR INTEGRIDADE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3611880" y="3611880"/>
            <a:ext cx="1476756" cy="38404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3611880" y="3611880"/>
            <a:ext cx="14767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198364" y="3611880"/>
            <a:ext cx="1476756" cy="38404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5198364" y="3611880"/>
            <a:ext cx="147675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784848" y="3611880"/>
            <a:ext cx="845820" cy="38404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6784848" y="3611880"/>
            <a:ext cx="8458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CHECK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3611880" y="4114800"/>
            <a:ext cx="1161288" cy="38404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 txBox="1"/>
          <p:nvPr/>
        </p:nvSpPr>
        <p:spPr>
          <a:xfrm>
            <a:off x="3611880" y="4114800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4882896" y="4114800"/>
            <a:ext cx="950976" cy="38404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4882896" y="4114800"/>
            <a:ext cx="950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411480" y="502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 txBox="1"/>
          <p:nvPr>
            <p:ph type="title"/>
          </p:nvPr>
        </p:nvSpPr>
        <p:spPr>
          <a:xfrm>
            <a:off x="411480" y="169164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Isolamento</a:t>
            </a:r>
            <a:endParaRPr sz="2400"/>
          </a:p>
        </p:txBody>
      </p:sp>
      <p:sp>
        <p:nvSpPr>
          <p:cNvPr id="292" name="Google Shape;292;p16"/>
          <p:cNvSpPr txBox="1"/>
          <p:nvPr/>
        </p:nvSpPr>
        <p:spPr>
          <a:xfrm>
            <a:off x="41148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Propriedades ACID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411480" y="2788920"/>
            <a:ext cx="365760" cy="36576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4114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868680" y="2788920"/>
            <a:ext cx="365760" cy="36576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1325880" y="2788920"/>
            <a:ext cx="365760" cy="36576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 txBox="1"/>
          <p:nvPr/>
        </p:nvSpPr>
        <p:spPr>
          <a:xfrm>
            <a:off x="13258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783080" y="2788920"/>
            <a:ext cx="365760" cy="36576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17830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411480" y="347472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Transações simultâneas não interferem umas nas outras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611880" y="457200"/>
            <a:ext cx="5074920" cy="1783080"/>
          </a:xfrm>
          <a:prstGeom prst="roundRect">
            <a:avLst>
              <a:gd fmla="val 512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3840480" y="5943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3840480" y="896112"/>
            <a:ext cx="4617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 uma transferência de Ana para Bruno, outra transação consulta o saldo total do banco. Ela não deve ver o saldo de Ana já com os R$ 30 abatidos, porque o dinheiro ainda não chegou ao Bruno e a transação pode sofrer rollback.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3611880" y="246888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COMO GARANTIR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3611880" y="2788920"/>
            <a:ext cx="2446020" cy="1874520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3767328" y="2944368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Locks" id="308" name="Google Shape;3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3340" y="304038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 txBox="1"/>
          <p:nvPr/>
        </p:nvSpPr>
        <p:spPr>
          <a:xfrm>
            <a:off x="4270248" y="2944368"/>
            <a:ext cx="16504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3767328" y="3419856"/>
            <a:ext cx="2135124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Bloqueios travam os registros em uso, e as outras transações esperam.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240780" y="2788920"/>
            <a:ext cx="2446020" cy="1874520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6396228" y="2944368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MVCC" id="313" name="Google Shape;3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304038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6"/>
          <p:cNvSpPr txBox="1"/>
          <p:nvPr/>
        </p:nvSpPr>
        <p:spPr>
          <a:xfrm>
            <a:off x="6899148" y="2944368"/>
            <a:ext cx="16504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MVCC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6396228" y="3419856"/>
            <a:ext cx="2135124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banco mantém várias versões de cada registro, e cada transação enxerga uma "fotografia" consistente dos dados.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Isolamento: o que ele tenta evitar</a:t>
            </a:r>
            <a:endParaRPr sz="2800"/>
          </a:p>
        </p:txBody>
      </p:sp>
      <p:sp>
        <p:nvSpPr>
          <p:cNvPr id="323" name="Google Shape;323;p17"/>
          <p:cNvSpPr/>
          <p:nvPr/>
        </p:nvSpPr>
        <p:spPr>
          <a:xfrm>
            <a:off x="457200" y="1097280"/>
            <a:ext cx="2606040" cy="347472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85800" y="1325880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eitura suja" id="325" name="Google Shape;3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0" y="152339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7"/>
          <p:cNvSpPr txBox="1"/>
          <p:nvPr/>
        </p:nvSpPr>
        <p:spPr>
          <a:xfrm>
            <a:off x="685800" y="21945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Leitura suja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685800" y="292608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Uma transação lê um dado alterado por outra transação que ainda não fez commit e que pode ser desfeita.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3268980" y="1097280"/>
            <a:ext cx="2606040" cy="347472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3497580" y="1325880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eitura não repetível" id="330" name="Google Shape;3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5090" y="152339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7"/>
          <p:cNvSpPr txBox="1"/>
          <p:nvPr/>
        </p:nvSpPr>
        <p:spPr>
          <a:xfrm>
            <a:off x="3497580" y="21945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Leitura não repetível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3497580" y="292608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transação lê o mesmo registro duas vezes e obtém valores diferentes, porque outra transação o alterou no meio.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6080760" y="1097280"/>
            <a:ext cx="2606040" cy="347472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6309360" y="1325880"/>
            <a:ext cx="731520" cy="7315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eitura fantasma" id="335" name="Google Shape;3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6870" y="152339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7"/>
          <p:cNvSpPr txBox="1"/>
          <p:nvPr/>
        </p:nvSpPr>
        <p:spPr>
          <a:xfrm>
            <a:off x="6309360" y="219456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Leitura fantasma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6309360" y="292608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transação repete uma consulta e surgem ou desaparecem linhas, porque outra transação inseriu ou excluiu registros.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411480" y="502920"/>
            <a:ext cx="960120" cy="9601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 txBox="1"/>
          <p:nvPr/>
        </p:nvSpPr>
        <p:spPr>
          <a:xfrm>
            <a:off x="411480" y="50292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 txBox="1"/>
          <p:nvPr>
            <p:ph type="title"/>
          </p:nvPr>
        </p:nvSpPr>
        <p:spPr>
          <a:xfrm>
            <a:off x="411480" y="169164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Durabilidade</a:t>
            </a:r>
            <a:endParaRPr sz="2400"/>
          </a:p>
        </p:txBody>
      </p:sp>
      <p:sp>
        <p:nvSpPr>
          <p:cNvPr id="348" name="Google Shape;348;p18"/>
          <p:cNvSpPr txBox="1"/>
          <p:nvPr/>
        </p:nvSpPr>
        <p:spPr>
          <a:xfrm>
            <a:off x="41148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Propriedades ACID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411480" y="2788920"/>
            <a:ext cx="365760" cy="36576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4114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68680" y="2788920"/>
            <a:ext cx="365760" cy="36576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1325880" y="2788920"/>
            <a:ext cx="365760" cy="36576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13258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1783080" y="2788920"/>
            <a:ext cx="365760" cy="36576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1783080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411480" y="3474720"/>
            <a:ext cx="2514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Depois do commit, é para sempre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3611880" y="502920"/>
            <a:ext cx="5074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 do commit, a alteração é permanente, mesmo que o servidor desligue no instante seguinte.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 txBox="1"/>
          <p:nvPr/>
        </p:nvSpPr>
        <p:spPr>
          <a:xfrm>
            <a:off x="3611880" y="1691640"/>
            <a:ext cx="5074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COMO GARANTIR?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3611880" y="2011680"/>
            <a:ext cx="5074920" cy="1463040"/>
          </a:xfrm>
          <a:prstGeom prst="roundRect">
            <a:avLst>
              <a:gd fmla="val 6250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"/>
          <p:cNvSpPr/>
          <p:nvPr/>
        </p:nvSpPr>
        <p:spPr>
          <a:xfrm>
            <a:off x="3767328" y="2167128"/>
            <a:ext cx="384048" cy="384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Write-Ahead Logging (WAL)" id="362" name="Google Shape;3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3340" y="226314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8"/>
          <p:cNvSpPr txBox="1"/>
          <p:nvPr/>
        </p:nvSpPr>
        <p:spPr>
          <a:xfrm>
            <a:off x="4270248" y="2167128"/>
            <a:ext cx="4279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Write-Ahead Logging (WAL)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3767328" y="2642616"/>
            <a:ext cx="476402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alteração é gravada no log em disco antes de ser confirmada. Se houver queda, o banco refaz (redo) as transações confirmadas no log.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3611880" y="3611880"/>
            <a:ext cx="5074920" cy="1051560"/>
          </a:xfrm>
          <a:prstGeom prst="roundRect">
            <a:avLst>
              <a:gd fmla="val 8696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3767328" y="3767328"/>
            <a:ext cx="384048" cy="384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Backups e réplicas" id="367" name="Google Shape;3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3340" y="386334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 txBox="1"/>
          <p:nvPr/>
        </p:nvSpPr>
        <p:spPr>
          <a:xfrm>
            <a:off x="4270248" y="3767328"/>
            <a:ext cx="42793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Backups e réplicas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3767328" y="4242816"/>
            <a:ext cx="47640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Protegem contra a perda do próprio disco.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modelagem: normalizada</a:t>
            </a:r>
            <a:endParaRPr sz="2800"/>
          </a:p>
        </p:txBody>
      </p:sp>
      <p:sp>
        <p:nvSpPr>
          <p:cNvPr id="377" name="Google Shape;377;p19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Ideia principal: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informação é guardada em um só lugar, sem repetição.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457200" y="1371600"/>
            <a:ext cx="3931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Os dados são separados em várias tabelas pequenas, que se ligam umas às outras por chaves. Uma tabela de vendas tem o id do cliente que fez a compra e o id dos produtos vendidos.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4663440" y="1371600"/>
            <a:ext cx="1234440" cy="3108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 txBox="1"/>
          <p:nvPr/>
        </p:nvSpPr>
        <p:spPr>
          <a:xfrm>
            <a:off x="4754880" y="1371600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4663440" y="1682496"/>
            <a:ext cx="1234440" cy="8321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4754880" y="1728216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4754880" y="1975104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4754880" y="2221992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6263640" y="1371600"/>
            <a:ext cx="1143000" cy="3108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355080" y="1371600"/>
            <a:ext cx="960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6263640" y="1682496"/>
            <a:ext cx="1143000" cy="8321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6355080" y="1728216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id_cliente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6355080" y="1975104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id_produto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6355080" y="2221992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7726680" y="1371600"/>
            <a:ext cx="960120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7818120" y="1371600"/>
            <a:ext cx="777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7726680" y="1682496"/>
            <a:ext cx="960120" cy="5852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7818120" y="1728216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7818120" y="1975104"/>
            <a:ext cx="7772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19"/>
          <p:cNvCxnSpPr/>
          <p:nvPr/>
        </p:nvCxnSpPr>
        <p:spPr>
          <a:xfrm>
            <a:off x="5897880" y="182880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97" name="Google Shape;397;p19"/>
          <p:cNvCxnSpPr/>
          <p:nvPr/>
        </p:nvCxnSpPr>
        <p:spPr>
          <a:xfrm flipH="1" rot="10800000">
            <a:off x="7406640" y="1828800"/>
            <a:ext cx="320040" cy="246888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398" name="Google Shape;398;p19"/>
          <p:cNvSpPr/>
          <p:nvPr/>
        </p:nvSpPr>
        <p:spPr>
          <a:xfrm>
            <a:off x="457200" y="2743200"/>
            <a:ext cx="4023360" cy="1874520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612648" y="2898648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Benefício" id="400" name="Google Shape;4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" y="299466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9"/>
          <p:cNvSpPr txBox="1"/>
          <p:nvPr/>
        </p:nvSpPr>
        <p:spPr>
          <a:xfrm>
            <a:off x="1115568" y="2898648"/>
            <a:ext cx="3227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Benefício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612648" y="3374136"/>
            <a:ext cx="3712464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 um usuário muda de cidade, basta alterar uma linha na tabela de clientes. Não existe o problema de dados desatualizados na base.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4663440" y="2743200"/>
            <a:ext cx="4023360" cy="1874520"/>
          </a:xfrm>
          <a:prstGeom prst="roundRect">
            <a:avLst>
              <a:gd fmla="val 4878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9"/>
          <p:cNvSpPr/>
          <p:nvPr/>
        </p:nvSpPr>
        <p:spPr>
          <a:xfrm>
            <a:off x="4818888" y="2898648"/>
            <a:ext cx="384048" cy="384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esvantagem" id="405" name="Google Shape;4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4900" y="299466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9"/>
          <p:cNvSpPr txBox="1"/>
          <p:nvPr/>
        </p:nvSpPr>
        <p:spPr>
          <a:xfrm>
            <a:off x="5321808" y="2898648"/>
            <a:ext cx="32278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Desvantagem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4818888" y="3374136"/>
            <a:ext cx="3712464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Para responder "quanto vendemos por cidade?" precisamos juntar várias tabelas. Com milhões de registros, a consulta fica lenta.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modelagem: desnormalizada</a:t>
            </a:r>
            <a:endParaRPr sz="2800"/>
          </a:p>
        </p:txBody>
      </p:sp>
      <p:sp>
        <p:nvSpPr>
          <p:cNvPr id="415" name="Google Shape;415;p20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Ideia principal: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repetir informações de propósito, para facilitar e acelerar a leitura.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457200" y="146304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MESMO EXEMPLO, UMA SÓ TABELA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7" name="Google Shape;417;p20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{543174A3-A37B-4DD6-B266-9350C292F426}</a:tableStyleId>
              </a:tblPr>
              <a:tblGrid>
                <a:gridCol w="960125"/>
                <a:gridCol w="1097275"/>
                <a:gridCol w="1188725"/>
                <a:gridCol w="9601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cidade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770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Recife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Caderno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Recife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Caneta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Bruno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Curitiba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Mochila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R$ 90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Recife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Mochila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R$ 90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8" name="Google Shape;418;p20"/>
          <p:cNvSpPr txBox="1"/>
          <p:nvPr/>
        </p:nvSpPr>
        <p:spPr>
          <a:xfrm>
            <a:off x="457200" y="35204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mesmo cliente aparece várias vezes na tabela.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937760" y="1463040"/>
            <a:ext cx="3749040" cy="1463040"/>
          </a:xfrm>
          <a:prstGeom prst="roundRect">
            <a:avLst>
              <a:gd fmla="val 6250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5093208" y="1618488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Consultas mais rápidas" id="421" name="Google Shape;4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220" y="171450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0"/>
          <p:cNvSpPr txBox="1"/>
          <p:nvPr/>
        </p:nvSpPr>
        <p:spPr>
          <a:xfrm>
            <a:off x="5596128" y="1618488"/>
            <a:ext cx="2953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Consultas mais rápidas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5093208" y="2093976"/>
            <a:ext cx="34381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Sem precisar juntar tabelas, a leitura fica muito mais rápida.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4937760" y="3108960"/>
            <a:ext cx="374904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5093208" y="3264408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Ideal para Data Warehouse" id="426" name="Google Shape;42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9220" y="336042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0"/>
          <p:cNvSpPr txBox="1"/>
          <p:nvPr/>
        </p:nvSpPr>
        <p:spPr>
          <a:xfrm>
            <a:off x="5596128" y="3264408"/>
            <a:ext cx="29535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para Data Warehouse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5093208" y="3739896"/>
            <a:ext cx="3438144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Não há problema na repetição, porque o DW quase nunca sofre alterações: os dados entram e ficam lá para consulta.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Modelagem dimensional</a:t>
            </a:r>
            <a:endParaRPr sz="2800"/>
          </a:p>
        </p:txBody>
      </p:sp>
      <p:sp>
        <p:nvSpPr>
          <p:cNvPr id="436" name="Google Shape;436;p21"/>
          <p:cNvSpPr txBox="1"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Colocar tudo em uma única tabela gigante também tem limites. A modelagem dimensional é a forma organizada de desnormalizar. Dividimos os dados em dois tipos: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457200" y="1783080"/>
            <a:ext cx="4023360" cy="2834640"/>
          </a:xfrm>
          <a:prstGeom prst="roundRect">
            <a:avLst>
              <a:gd fmla="val 3226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731520" y="2011680"/>
            <a:ext cx="777240" cy="7772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ato" id="439" name="Google Shape;4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75" y="2221535"/>
            <a:ext cx="357530" cy="35753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1"/>
          <p:cNvSpPr txBox="1"/>
          <p:nvPr/>
        </p:nvSpPr>
        <p:spPr>
          <a:xfrm>
            <a:off x="1691640" y="20116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Fato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731520" y="297180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 os números que se quer medir, como valor e quantidade.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731520" y="3886200"/>
            <a:ext cx="3474720" cy="502920"/>
          </a:xfrm>
          <a:prstGeom prst="roundRect">
            <a:avLst>
              <a:gd fmla="val 181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868680" y="38862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Responde: quanto?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4663440" y="1783080"/>
            <a:ext cx="4023360" cy="2834640"/>
          </a:xfrm>
          <a:prstGeom prst="roundRect">
            <a:avLst>
              <a:gd fmla="val 3226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"/>
          <p:cNvSpPr/>
          <p:nvPr/>
        </p:nvSpPr>
        <p:spPr>
          <a:xfrm>
            <a:off x="4937760" y="2011680"/>
            <a:ext cx="777240" cy="7772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imensão" id="446" name="Google Shape;4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615" y="2221535"/>
            <a:ext cx="357530" cy="35753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1"/>
          <p:cNvSpPr txBox="1"/>
          <p:nvPr/>
        </p:nvSpPr>
        <p:spPr>
          <a:xfrm>
            <a:off x="5897880" y="2011680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Dimensão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4937760" y="297180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 as informações que descrevem esses números.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4937760" y="3886200"/>
            <a:ext cx="3474720" cy="502920"/>
          </a:xfrm>
          <a:prstGeom prst="roundRect">
            <a:avLst>
              <a:gd fmla="val 181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 txBox="1"/>
          <p:nvPr/>
        </p:nvSpPr>
        <p:spPr>
          <a:xfrm>
            <a:off x="5074920" y="388620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Responde: quem, o quê, quando, onde?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Modelagem dimensional: esquema estrela</a:t>
            </a:r>
            <a:endParaRPr sz="2800"/>
          </a:p>
        </p:txBody>
      </p:sp>
      <p:sp>
        <p:nvSpPr>
          <p:cNvPr id="458" name="Google Shape;458;p22"/>
          <p:cNvSpPr txBox="1"/>
          <p:nvPr/>
        </p:nvSpPr>
        <p:spPr>
          <a:xfrm>
            <a:off x="457200" y="105156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tabela fato fica no centro, e as dimensões ficam nas pontas, como uma estrela.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457200" y="2834640"/>
            <a:ext cx="3108960" cy="1737360"/>
          </a:xfrm>
          <a:prstGeom prst="roundRect">
            <a:avLst>
              <a:gd fmla="val 526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2"/>
          <p:cNvSpPr txBox="1"/>
          <p:nvPr/>
        </p:nvSpPr>
        <p:spPr>
          <a:xfrm>
            <a:off x="640080" y="2834640"/>
            <a:ext cx="2743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Assim fica mais fácil perguntar: vendas por cidade? vendas por mês?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22"/>
          <p:cNvCxnSpPr/>
          <p:nvPr/>
        </p:nvCxnSpPr>
        <p:spPr>
          <a:xfrm>
            <a:off x="4777740" y="1485900"/>
            <a:ext cx="1348740" cy="13030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22"/>
          <p:cNvCxnSpPr/>
          <p:nvPr/>
        </p:nvCxnSpPr>
        <p:spPr>
          <a:xfrm flipH="1">
            <a:off x="6126480" y="1485900"/>
            <a:ext cx="1668780" cy="13030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22"/>
          <p:cNvCxnSpPr/>
          <p:nvPr/>
        </p:nvCxnSpPr>
        <p:spPr>
          <a:xfrm flipH="1">
            <a:off x="4777740" y="2788920"/>
            <a:ext cx="1348740" cy="13030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22"/>
          <p:cNvCxnSpPr/>
          <p:nvPr/>
        </p:nvCxnSpPr>
        <p:spPr>
          <a:xfrm>
            <a:off x="6126480" y="2788920"/>
            <a:ext cx="1668780" cy="13030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22"/>
          <p:cNvSpPr/>
          <p:nvPr/>
        </p:nvSpPr>
        <p:spPr>
          <a:xfrm>
            <a:off x="3886200" y="1051560"/>
            <a:ext cx="1783080" cy="868680"/>
          </a:xfrm>
          <a:prstGeom prst="roundRect">
            <a:avLst>
              <a:gd fmla="val 10526" name="adj"/>
            </a:avLst>
          </a:prstGeom>
          <a:solidFill>
            <a:schemeClr val="lt1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2"/>
          <p:cNvSpPr txBox="1"/>
          <p:nvPr/>
        </p:nvSpPr>
        <p:spPr>
          <a:xfrm>
            <a:off x="3995928" y="1143000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Dimensão Tempo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3995928" y="1481328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dia, mês, 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6903720" y="1051560"/>
            <a:ext cx="1783080" cy="868680"/>
          </a:xfrm>
          <a:prstGeom prst="roundRect">
            <a:avLst>
              <a:gd fmla="val 10526" name="adj"/>
            </a:avLst>
          </a:prstGeom>
          <a:solidFill>
            <a:schemeClr val="lt1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7013448" y="1143000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Dimensão Cliente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7013448" y="1481328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nome, cidade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2"/>
          <p:cNvSpPr/>
          <p:nvPr/>
        </p:nvSpPr>
        <p:spPr>
          <a:xfrm>
            <a:off x="3886200" y="3657600"/>
            <a:ext cx="1783080" cy="868680"/>
          </a:xfrm>
          <a:prstGeom prst="roundRect">
            <a:avLst>
              <a:gd fmla="val 10526" name="adj"/>
            </a:avLst>
          </a:prstGeom>
          <a:solidFill>
            <a:schemeClr val="lt1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3995928" y="3749040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Dimensão Produto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3995928" y="4087368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nome, categoria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6903720" y="3657600"/>
            <a:ext cx="1783080" cy="868680"/>
          </a:xfrm>
          <a:prstGeom prst="roundRect">
            <a:avLst>
              <a:gd fmla="val 10526" name="adj"/>
            </a:avLst>
          </a:prstGeom>
          <a:solidFill>
            <a:schemeClr val="lt1"/>
          </a:solidFill>
          <a:ln cap="flat" cmpd="sng" w="127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7013448" y="3749040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Dimensão Loja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7013448" y="4087368"/>
            <a:ext cx="15636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nome, região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5166360" y="2286000"/>
            <a:ext cx="1920240" cy="1005840"/>
          </a:xfrm>
          <a:prstGeom prst="roundRect">
            <a:avLst>
              <a:gd fmla="val 909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5166360" y="2286000"/>
            <a:ext cx="1920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Fato Vendas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valor, quantidade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2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3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Modelagem dimensional: snowflake</a:t>
            </a:r>
            <a:endParaRPr sz="2800"/>
          </a:p>
        </p:txBody>
      </p:sp>
      <p:sp>
        <p:nvSpPr>
          <p:cNvPr id="486" name="Google Shape;486;p2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"Snowflake é um esquema estrela em que as dimensões foram normalizadas."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Em vez de cada dimensão ser uma tabela só, algumas são divididas em tabelas menores.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457200" y="1828800"/>
            <a:ext cx="3291840" cy="2240280"/>
          </a:xfrm>
          <a:prstGeom prst="roundRect">
            <a:avLst>
              <a:gd fmla="val 40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640080" y="193852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ESQUEMA ESTRELA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 txBox="1"/>
          <p:nvPr/>
        </p:nvSpPr>
        <p:spPr>
          <a:xfrm>
            <a:off x="640080" y="2194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categoria se repete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640080" y="2514600"/>
            <a:ext cx="2926080" cy="3108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3"/>
          <p:cNvSpPr txBox="1"/>
          <p:nvPr/>
        </p:nvSpPr>
        <p:spPr>
          <a:xfrm>
            <a:off x="731520" y="2514600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640080" y="2825496"/>
            <a:ext cx="2926080" cy="8321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 txBox="1"/>
          <p:nvPr/>
        </p:nvSpPr>
        <p:spPr>
          <a:xfrm>
            <a:off x="731520" y="2871216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Caderno  ·  Papelaria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 txBox="1"/>
          <p:nvPr/>
        </p:nvSpPr>
        <p:spPr>
          <a:xfrm>
            <a:off x="731520" y="3118104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Caneta  ·  Papelaria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 txBox="1"/>
          <p:nvPr/>
        </p:nvSpPr>
        <p:spPr>
          <a:xfrm>
            <a:off x="731520" y="3364992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Mochila  ·  Acessórios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ra" id="497" name="Google Shape;4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28346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3"/>
          <p:cNvSpPr/>
          <p:nvPr/>
        </p:nvSpPr>
        <p:spPr>
          <a:xfrm>
            <a:off x="4343400" y="1828800"/>
            <a:ext cx="4343400" cy="2240280"/>
          </a:xfrm>
          <a:prstGeom prst="roundRect">
            <a:avLst>
              <a:gd fmla="val 408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 txBox="1"/>
          <p:nvPr/>
        </p:nvSpPr>
        <p:spPr>
          <a:xfrm>
            <a:off x="4526280" y="193852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FLOCO DE NEVE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3"/>
          <p:cNvSpPr txBox="1"/>
          <p:nvPr/>
        </p:nvSpPr>
        <p:spPr>
          <a:xfrm>
            <a:off x="4526280" y="21945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categoria ganha uma tabela própria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4526280" y="2514600"/>
            <a:ext cx="2057400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 txBox="1"/>
          <p:nvPr/>
        </p:nvSpPr>
        <p:spPr>
          <a:xfrm>
            <a:off x="4617720" y="251460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4526280" y="2825496"/>
            <a:ext cx="2057400" cy="8321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"/>
          <p:cNvSpPr txBox="1"/>
          <p:nvPr/>
        </p:nvSpPr>
        <p:spPr>
          <a:xfrm>
            <a:off x="4617720" y="2871216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Caderno  ·  categoria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4617720" y="3118104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Caneta  ·  categoria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4617720" y="3364992"/>
            <a:ext cx="18745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Mochila  ·  categoria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6949440" y="2514600"/>
            <a:ext cx="1554480" cy="3108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3"/>
          <p:cNvSpPr txBox="1"/>
          <p:nvPr/>
        </p:nvSpPr>
        <p:spPr>
          <a:xfrm>
            <a:off x="7040880" y="251460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6949440" y="2825496"/>
            <a:ext cx="1554480" cy="58521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7040880" y="2871216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·  Papelaria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7040880" y="3118104"/>
            <a:ext cx="1371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·  Acessórios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23"/>
          <p:cNvCxnSpPr/>
          <p:nvPr/>
        </p:nvCxnSpPr>
        <p:spPr>
          <a:xfrm>
            <a:off x="6583680" y="310896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13" name="Google Shape;513;p2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tabela fato continua no centro. O que muda é que as pontas (dimensões) agora podem se ligar a outras tabelas.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Estrutura: navegando no cubo de dados</a:t>
            </a:r>
            <a:endParaRPr sz="2800"/>
          </a:p>
        </p:txBody>
      </p:sp>
      <p:sp>
        <p:nvSpPr>
          <p:cNvPr id="521" name="Google Shape;521;p24"/>
          <p:cNvSpPr txBox="1"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OLAP, os dados são vistos como um cubo multidimensional. Estas operações exploram o mesmo dado por ângulos diferentes, sem mudar os números.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4"/>
          <p:cNvSpPr/>
          <p:nvPr/>
        </p:nvSpPr>
        <p:spPr>
          <a:xfrm>
            <a:off x="457200" y="1463040"/>
            <a:ext cx="2606040" cy="320040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4"/>
          <p:cNvSpPr/>
          <p:nvPr/>
        </p:nvSpPr>
        <p:spPr>
          <a:xfrm>
            <a:off x="621792" y="1609344"/>
            <a:ext cx="420624" cy="4206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rill-Down / Roll-Up" id="524" name="Google Shape;5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1714500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4"/>
          <p:cNvSpPr txBox="1"/>
          <p:nvPr/>
        </p:nvSpPr>
        <p:spPr>
          <a:xfrm>
            <a:off x="1143000" y="160934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Drill-Down / Roll-Up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4"/>
          <p:cNvSpPr txBox="1"/>
          <p:nvPr/>
        </p:nvSpPr>
        <p:spPr>
          <a:xfrm>
            <a:off x="640080" y="32004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Drill-down detalha (do resumo ao detalhe). Roll-up consolida (caminho inverso).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594360" y="4096512"/>
            <a:ext cx="2331720" cy="457200"/>
          </a:xfrm>
          <a:prstGeom prst="roundRect">
            <a:avLst>
              <a:gd fmla="val 2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4"/>
          <p:cNvSpPr txBox="1"/>
          <p:nvPr/>
        </p:nvSpPr>
        <p:spPr>
          <a:xfrm>
            <a:off x="685800" y="409651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Ex.: Brasil → Sudeste → loja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4"/>
          <p:cNvSpPr/>
          <p:nvPr/>
        </p:nvSpPr>
        <p:spPr>
          <a:xfrm>
            <a:off x="685800" y="2148840"/>
            <a:ext cx="1051560" cy="274320"/>
          </a:xfrm>
          <a:prstGeom prst="roundRect">
            <a:avLst>
              <a:gd fmla="val 33333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4"/>
          <p:cNvSpPr txBox="1"/>
          <p:nvPr/>
        </p:nvSpPr>
        <p:spPr>
          <a:xfrm>
            <a:off x="685800" y="214884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685800" y="2496312"/>
            <a:ext cx="1051560" cy="274320"/>
          </a:xfrm>
          <a:prstGeom prst="roundRect">
            <a:avLst>
              <a:gd fmla="val 33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4"/>
          <p:cNvSpPr txBox="1"/>
          <p:nvPr/>
        </p:nvSpPr>
        <p:spPr>
          <a:xfrm>
            <a:off x="685800" y="24963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685800" y="2843784"/>
            <a:ext cx="1051560" cy="274320"/>
          </a:xfrm>
          <a:prstGeom prst="roundRect">
            <a:avLst>
              <a:gd fmla="val 33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4"/>
          <p:cNvSpPr txBox="1"/>
          <p:nvPr/>
        </p:nvSpPr>
        <p:spPr>
          <a:xfrm>
            <a:off x="685800" y="2843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24"/>
          <p:cNvCxnSpPr/>
          <p:nvPr/>
        </p:nvCxnSpPr>
        <p:spPr>
          <a:xfrm>
            <a:off x="1901952" y="2194560"/>
            <a:ext cx="0" cy="877824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6" name="Google Shape;536;p24"/>
          <p:cNvCxnSpPr/>
          <p:nvPr/>
        </p:nvCxnSpPr>
        <p:spPr>
          <a:xfrm>
            <a:off x="2066544" y="2194560"/>
            <a:ext cx="0" cy="877824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37" name="Google Shape;537;p24"/>
          <p:cNvSpPr txBox="1"/>
          <p:nvPr/>
        </p:nvSpPr>
        <p:spPr>
          <a:xfrm>
            <a:off x="2176272" y="22402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Drill-down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4"/>
          <p:cNvSpPr txBox="1"/>
          <p:nvPr/>
        </p:nvSpPr>
        <p:spPr>
          <a:xfrm>
            <a:off x="2176272" y="277063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Roll-up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3268980" y="1463040"/>
            <a:ext cx="2606040" cy="320040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3433572" y="1609344"/>
            <a:ext cx="420624" cy="420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Slice / Dice" id="541" name="Google Shape;54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728" y="1714500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4"/>
          <p:cNvSpPr txBox="1"/>
          <p:nvPr/>
        </p:nvSpPr>
        <p:spPr>
          <a:xfrm>
            <a:off x="3954780" y="160934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Slice / Dice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 txBox="1"/>
          <p:nvPr/>
        </p:nvSpPr>
        <p:spPr>
          <a:xfrm>
            <a:off x="3451860" y="32004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Recortam o cubo. Slice fixa um valor de uma dimensão; Dice recorta várias dimensões.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3406140" y="4096512"/>
            <a:ext cx="2331720" cy="457200"/>
          </a:xfrm>
          <a:prstGeom prst="roundRect">
            <a:avLst>
              <a:gd fmla="val 2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4"/>
          <p:cNvSpPr txBox="1"/>
          <p:nvPr/>
        </p:nvSpPr>
        <p:spPr>
          <a:xfrm>
            <a:off x="3497580" y="409651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Ex.: só 2025 (slice) · 2025 + Sul + Eletrônicos (dice)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3634740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4"/>
          <p:cNvSpPr/>
          <p:nvPr/>
        </p:nvSpPr>
        <p:spPr>
          <a:xfrm>
            <a:off x="3808476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4"/>
          <p:cNvSpPr/>
          <p:nvPr/>
        </p:nvSpPr>
        <p:spPr>
          <a:xfrm>
            <a:off x="3982212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4155948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3634740" y="2322576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3808476" y="2322576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4"/>
          <p:cNvSpPr/>
          <p:nvPr/>
        </p:nvSpPr>
        <p:spPr>
          <a:xfrm>
            <a:off x="3982212" y="2322576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4155948" y="2322576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4"/>
          <p:cNvSpPr/>
          <p:nvPr/>
        </p:nvSpPr>
        <p:spPr>
          <a:xfrm>
            <a:off x="3634740" y="2496312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3808476" y="2496312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4"/>
          <p:cNvSpPr/>
          <p:nvPr/>
        </p:nvSpPr>
        <p:spPr>
          <a:xfrm>
            <a:off x="3982212" y="2496312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4"/>
          <p:cNvSpPr/>
          <p:nvPr/>
        </p:nvSpPr>
        <p:spPr>
          <a:xfrm>
            <a:off x="4155948" y="2496312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3634740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4"/>
          <p:cNvSpPr/>
          <p:nvPr/>
        </p:nvSpPr>
        <p:spPr>
          <a:xfrm>
            <a:off x="3808476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3982212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4155948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 txBox="1"/>
          <p:nvPr/>
        </p:nvSpPr>
        <p:spPr>
          <a:xfrm>
            <a:off x="3543300" y="289864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4777740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4951476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4"/>
          <p:cNvSpPr/>
          <p:nvPr/>
        </p:nvSpPr>
        <p:spPr>
          <a:xfrm>
            <a:off x="5125212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4"/>
          <p:cNvSpPr/>
          <p:nvPr/>
        </p:nvSpPr>
        <p:spPr>
          <a:xfrm>
            <a:off x="5298948" y="2148840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4"/>
          <p:cNvSpPr/>
          <p:nvPr/>
        </p:nvSpPr>
        <p:spPr>
          <a:xfrm>
            <a:off x="4777740" y="2322576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4"/>
          <p:cNvSpPr/>
          <p:nvPr/>
        </p:nvSpPr>
        <p:spPr>
          <a:xfrm>
            <a:off x="4951476" y="2322576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4"/>
          <p:cNvSpPr/>
          <p:nvPr/>
        </p:nvSpPr>
        <p:spPr>
          <a:xfrm>
            <a:off x="5125212" y="2322576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4"/>
          <p:cNvSpPr/>
          <p:nvPr/>
        </p:nvSpPr>
        <p:spPr>
          <a:xfrm>
            <a:off x="5298948" y="2322576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4"/>
          <p:cNvSpPr/>
          <p:nvPr/>
        </p:nvSpPr>
        <p:spPr>
          <a:xfrm>
            <a:off x="4777740" y="2496312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4"/>
          <p:cNvSpPr/>
          <p:nvPr/>
        </p:nvSpPr>
        <p:spPr>
          <a:xfrm>
            <a:off x="4951476" y="2496312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4"/>
          <p:cNvSpPr/>
          <p:nvPr/>
        </p:nvSpPr>
        <p:spPr>
          <a:xfrm>
            <a:off x="5125212" y="2496312"/>
            <a:ext cx="173736" cy="17373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5298948" y="2496312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4777740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4951476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5125212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5298948" y="2670048"/>
            <a:ext cx="173736" cy="17373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 txBox="1"/>
          <p:nvPr/>
        </p:nvSpPr>
        <p:spPr>
          <a:xfrm>
            <a:off x="4686300" y="289864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6080760" y="1463040"/>
            <a:ext cx="2606040" cy="3200400"/>
          </a:xfrm>
          <a:prstGeom prst="roundRect">
            <a:avLst>
              <a:gd fmla="val 3509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6245352" y="1609344"/>
            <a:ext cx="420624" cy="42062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Pivot" id="582" name="Google Shape;5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508" y="1714500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4"/>
          <p:cNvSpPr txBox="1"/>
          <p:nvPr/>
        </p:nvSpPr>
        <p:spPr>
          <a:xfrm>
            <a:off x="6766560" y="160934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Pivot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 txBox="1"/>
          <p:nvPr/>
        </p:nvSpPr>
        <p:spPr>
          <a:xfrm>
            <a:off x="6263640" y="3200400"/>
            <a:ext cx="2240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Rotaciona a visão dos eixos: troca linhas por colunas para ver o dado por outro ângulo.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6217920" y="4096512"/>
            <a:ext cx="2331720" cy="457200"/>
          </a:xfrm>
          <a:prstGeom prst="roundRect">
            <a:avLst>
              <a:gd fmla="val 2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4"/>
          <p:cNvSpPr txBox="1"/>
          <p:nvPr/>
        </p:nvSpPr>
        <p:spPr>
          <a:xfrm>
            <a:off x="6309360" y="409651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Ex.: Região × Mês vira Mês × Região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6400800" y="2148840"/>
            <a:ext cx="219456" cy="2194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6620256" y="2148840"/>
            <a:ext cx="219456" cy="21945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>
            <a:off x="6839712" y="2148840"/>
            <a:ext cx="219456" cy="21945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6400800" y="2368296"/>
            <a:ext cx="219456" cy="21945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>
            <a:off x="6620256" y="2368296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6839712" y="2368296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"/>
          <p:cNvSpPr/>
          <p:nvPr/>
        </p:nvSpPr>
        <p:spPr>
          <a:xfrm>
            <a:off x="6400800" y="2587752"/>
            <a:ext cx="219456" cy="21945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/>
          <p:nvPr/>
        </p:nvSpPr>
        <p:spPr>
          <a:xfrm>
            <a:off x="6620256" y="2587752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4"/>
          <p:cNvSpPr/>
          <p:nvPr/>
        </p:nvSpPr>
        <p:spPr>
          <a:xfrm>
            <a:off x="6839712" y="2587752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oca linhas e colunas" id="596" name="Google Shape;59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2048" y="2368296"/>
            <a:ext cx="27432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4"/>
          <p:cNvSpPr/>
          <p:nvPr/>
        </p:nvSpPr>
        <p:spPr>
          <a:xfrm>
            <a:off x="7708392" y="2148840"/>
            <a:ext cx="219456" cy="2194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"/>
          <p:cNvSpPr/>
          <p:nvPr/>
        </p:nvSpPr>
        <p:spPr>
          <a:xfrm>
            <a:off x="7927848" y="2148840"/>
            <a:ext cx="219456" cy="21945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4"/>
          <p:cNvSpPr/>
          <p:nvPr/>
        </p:nvSpPr>
        <p:spPr>
          <a:xfrm>
            <a:off x="8147304" y="2148840"/>
            <a:ext cx="219456" cy="21945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7708392" y="2368296"/>
            <a:ext cx="219456" cy="21945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7927848" y="2368296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4"/>
          <p:cNvSpPr/>
          <p:nvPr/>
        </p:nvSpPr>
        <p:spPr>
          <a:xfrm>
            <a:off x="8147304" y="2368296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4"/>
          <p:cNvSpPr/>
          <p:nvPr/>
        </p:nvSpPr>
        <p:spPr>
          <a:xfrm>
            <a:off x="7708392" y="2587752"/>
            <a:ext cx="219456" cy="21945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4"/>
          <p:cNvSpPr/>
          <p:nvPr/>
        </p:nvSpPr>
        <p:spPr>
          <a:xfrm>
            <a:off x="7927848" y="2587752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4"/>
          <p:cNvSpPr/>
          <p:nvPr/>
        </p:nvSpPr>
        <p:spPr>
          <a:xfrm>
            <a:off x="8147304" y="2587752"/>
            <a:ext cx="219456" cy="21945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 txBox="1"/>
          <p:nvPr/>
        </p:nvSpPr>
        <p:spPr>
          <a:xfrm>
            <a:off x="6263640" y="288036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■ Região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■ Mês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 sz="2800"/>
          </a:p>
        </p:txBody>
      </p:sp>
      <p:sp>
        <p:nvSpPr>
          <p:cNvPr id="614" name="Google Shape;614;p25"/>
          <p:cNvSpPr txBox="1"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Banco de dados criado especialmente para guardar o histórico da empresa e permitir análises. Não registra as operações do dia a dia.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"O data warehouse é um lugar onde a empresa junta e organiza seus dados do passado para tomar decisões sobre o futuro."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 txBox="1"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POR QUE ELE EXISTE?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457200" y="2212848"/>
            <a:ext cx="4023360" cy="137160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612648" y="2368296"/>
            <a:ext cx="329184" cy="3291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ados espalhados" id="619" name="Google Shape;6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" y="24505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5"/>
          <p:cNvSpPr txBox="1"/>
          <p:nvPr/>
        </p:nvSpPr>
        <p:spPr>
          <a:xfrm>
            <a:off x="1060704" y="2368296"/>
            <a:ext cx="3282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 espalhados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612648" y="2788920"/>
            <a:ext cx="371246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OLTP os dados ficam em vários sistemas, cada um com seu banco: um para vendas, outro para estoque etc. Cada um guarda só parte da informação.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4663440" y="2212848"/>
            <a:ext cx="4023360" cy="1371600"/>
          </a:xfrm>
          <a:prstGeom prst="roundRect">
            <a:avLst>
              <a:gd fmla="val 6667" name="adj"/>
            </a:avLst>
          </a:prstGeom>
          <a:solidFill>
            <a:schemeClr val="lt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/>
          <p:nvPr/>
        </p:nvSpPr>
        <p:spPr>
          <a:xfrm>
            <a:off x="4818888" y="2368296"/>
            <a:ext cx="329184" cy="3291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Sistemas ocupados" id="624" name="Google Shape;6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184" y="24505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5"/>
          <p:cNvSpPr txBox="1"/>
          <p:nvPr/>
        </p:nvSpPr>
        <p:spPr>
          <a:xfrm>
            <a:off x="5266944" y="2368296"/>
            <a:ext cx="3282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ocupados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 txBox="1"/>
          <p:nvPr/>
        </p:nvSpPr>
        <p:spPr>
          <a:xfrm>
            <a:off x="4818888" y="2788920"/>
            <a:ext cx="3712464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OLTP atende o dia a dia. Uma consulta enorme, analisando anos de dados, pode deixar o sistema lento para todos que estão usando.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457200" y="3703320"/>
            <a:ext cx="8229600" cy="987552"/>
          </a:xfrm>
          <a:prstGeom prst="roundRect">
            <a:avLst>
              <a:gd fmla="val 925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621792" y="3904488"/>
            <a:ext cx="566928" cy="5669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ata warehouse" id="629" name="Google Shape;6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193" y="40518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5"/>
          <p:cNvSpPr txBox="1"/>
          <p:nvPr/>
        </p:nvSpPr>
        <p:spPr>
          <a:xfrm>
            <a:off x="1371600" y="3749040"/>
            <a:ext cx="71780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DW resolve os dois problemas: 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reúne os dados em um único lugar, separado do ambiente operacional, onde as análises não atrapalham o dia a dia.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OLTP é onde a empresa trabalha; o Data Warehouse é onde ela aprende com o que já fez.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OLAP (Online Analytical Processing)</a:t>
            </a:r>
            <a:endParaRPr sz="2800"/>
          </a:p>
        </p:txBody>
      </p:sp>
      <p:sp>
        <p:nvSpPr>
          <p:cNvPr id="638" name="Google Shape;638;p26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processamento analítico é o sistema que apoia a tomada de decisão.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Exemplos: painéis de BI, relatórios gerenciais, análise de vendas por região ou período, previsão de demanda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457200" y="1481328"/>
            <a:ext cx="8229600" cy="4754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548640" y="1581912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Finalidade" id="641" name="Google Shape;6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1647749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26"/>
          <p:cNvSpPr txBox="1"/>
          <p:nvPr/>
        </p:nvSpPr>
        <p:spPr>
          <a:xfrm>
            <a:off x="960120" y="1481328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 txBox="1"/>
          <p:nvPr/>
        </p:nvSpPr>
        <p:spPr>
          <a:xfrm>
            <a:off x="2423160" y="1481328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Analisar grandes volumes de dados para identificar tendências, padrões e indicadores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Tipo de operação" id="645" name="Google Shape;6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7" y="2123237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6"/>
          <p:cNvSpPr txBox="1"/>
          <p:nvPr/>
        </p:nvSpPr>
        <p:spPr>
          <a:xfrm>
            <a:off x="960120" y="195681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operação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 txBox="1"/>
          <p:nvPr/>
        </p:nvSpPr>
        <p:spPr>
          <a:xfrm>
            <a:off x="2423160" y="1956816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Consultas complexas e de leitura intensiva, com agregações sobre milhões de registros. Poucas escritas, geralmente em cargas periódicas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457200" y="2432304"/>
            <a:ext cx="8229600" cy="4754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548640" y="2532888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ados" id="650" name="Google Shape;65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7" y="2598725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6"/>
          <p:cNvSpPr txBox="1"/>
          <p:nvPr/>
        </p:nvSpPr>
        <p:spPr>
          <a:xfrm>
            <a:off x="960120" y="2432304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 txBox="1"/>
          <p:nvPr/>
        </p:nvSpPr>
        <p:spPr>
          <a:xfrm>
            <a:off x="2423160" y="2432304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Históricos, consolidados e integrados de várias fontes (frequentemente vindos dos próprios sistemas OLTP)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548640" y="3008376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Modelagem" id="654" name="Google Shape;65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477" y="3074213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6"/>
          <p:cNvSpPr txBox="1"/>
          <p:nvPr/>
        </p:nvSpPr>
        <p:spPr>
          <a:xfrm>
            <a:off x="960120" y="2907792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 txBox="1"/>
          <p:nvPr/>
        </p:nvSpPr>
        <p:spPr>
          <a:xfrm>
            <a:off x="2423160" y="2907792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Dimensional e desnormalizada: esquemas estrela e floco de neve, com tabelas fato (métricas) e dimensões (tempo, produto, região, cliente)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Estrutura" id="659" name="Google Shape;65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477" y="3494837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6"/>
          <p:cNvSpPr txBox="1"/>
          <p:nvPr/>
        </p:nvSpPr>
        <p:spPr>
          <a:xfrm>
            <a:off x="960120" y="33832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6"/>
          <p:cNvSpPr txBox="1"/>
          <p:nvPr/>
        </p:nvSpPr>
        <p:spPr>
          <a:xfrm>
            <a:off x="2423160" y="338328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Cubo multidimensional: Drill-Down/Roll-Up, Slice/Dice e Pivot (slide 18)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548640" y="3849624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Alimentação" id="663" name="Google Shape;66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4477" y="3915461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6"/>
          <p:cNvSpPr txBox="1"/>
          <p:nvPr/>
        </p:nvSpPr>
        <p:spPr>
          <a:xfrm>
            <a:off x="960120" y="3749040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Alimentação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6"/>
          <p:cNvSpPr txBox="1"/>
          <p:nvPr/>
        </p:nvSpPr>
        <p:spPr>
          <a:xfrm>
            <a:off x="2423160" y="3749040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Processos de ETL/ELT (extração, transformação e carga) levam os dados para um Data Warehouse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457200" y="4224528"/>
            <a:ext cx="8229600" cy="4754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548640" y="4325112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esempenho" id="668" name="Google Shape;668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4477" y="4390949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6"/>
          <p:cNvSpPr txBox="1"/>
          <p:nvPr/>
        </p:nvSpPr>
        <p:spPr>
          <a:xfrm>
            <a:off x="960120" y="4224528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 txBox="1"/>
          <p:nvPr/>
        </p:nvSpPr>
        <p:spPr>
          <a:xfrm>
            <a:off x="2423160" y="4224528"/>
            <a:ext cx="6172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Medido pelo tempo de resposta das consultas analíticas, que podem levar segundos ou minutos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548640" y="4745736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Usuários" id="672" name="Google Shape;672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4477" y="4811573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6"/>
          <p:cNvSpPr txBox="1"/>
          <p:nvPr/>
        </p:nvSpPr>
        <p:spPr>
          <a:xfrm>
            <a:off x="960120" y="470001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 txBox="1"/>
          <p:nvPr/>
        </p:nvSpPr>
        <p:spPr>
          <a:xfrm>
            <a:off x="2423160" y="4700016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Gestores, analistas de negócio e diretoria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6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7"/>
          <p:cNvSpPr txBox="1"/>
          <p:nvPr>
            <p:ph type="title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Comparação entre OLTP x OLAP</a:t>
            </a:r>
            <a:endParaRPr sz="2800"/>
          </a:p>
        </p:txBody>
      </p:sp>
      <p:graphicFrame>
        <p:nvGraphicFramePr>
          <p:cNvPr id="682" name="Google Shape;682;p27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{543174A3-A37B-4DD6-B266-9350C292F426}</a:tableStyleId>
              </a:tblPr>
              <a:tblGrid>
                <a:gridCol w="2194550"/>
                <a:gridCol w="3017525"/>
                <a:gridCol w="3017525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OLTP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OLAP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Operar o negócio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Analisar o negócio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Nível de decisão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Tático e estratégico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Atuais e detalhados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Históricos e agregados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Operações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Leitura e escrita frequentes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Predominantemente leitura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Simples e pontuais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Complexas e agregadas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Modelagem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Normalizada (relacional)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Desnormalizada (dimensional)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Volume por consulta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Poucos registros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Milhões de registros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Atualizações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 tempo real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Cargas periódicas (ETL)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Usuários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Muitos (operacionais)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Poucos (analistas e gestores)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13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21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Banco transacional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Warehouse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3" name="Google Shape;683;p27"/>
          <p:cNvSpPr txBox="1"/>
          <p:nvPr>
            <p:ph idx="4294967295" type="sldNum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TP x OLAP">
  <a:themeElements>
    <a:clrScheme name="OLTP x OLAP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TP x OLAP">
  <a:themeElements>
    <a:clrScheme name="OLTP x OLAP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