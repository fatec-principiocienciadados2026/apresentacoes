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escur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47548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47548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ic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de Dados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Cultura data-driven e tomada de decisão</a:t>
            </a:r>
            <a:endParaRPr lang="en-US" sz="2000" dirty="0"/>
          </a:p>
        </p:txBody>
      </p:sp>
      <p:sp>
        <p:nvSpPr>
          <p:cNvPr id="4" name="tema 0 círculo"/>
          <p:cNvSpPr/>
          <p:nvPr/>
        </p:nvSpPr>
        <p:spPr>
          <a:xfrm>
            <a:off x="6035040" y="123444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ema 0" descr="tema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4272" y="1493672"/>
            <a:ext cx="441655" cy="441655"/>
          </a:xfrm>
          <a:prstGeom prst="rect">
            <a:avLst/>
          </a:prstGeom>
        </p:spPr>
      </p:pic>
      <p:sp>
        <p:nvSpPr>
          <p:cNvPr id="6" name="tema 1 círculo"/>
          <p:cNvSpPr/>
          <p:nvPr/>
        </p:nvSpPr>
        <p:spPr>
          <a:xfrm>
            <a:off x="7269480" y="1234440"/>
            <a:ext cx="960120" cy="9601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tema 1" descr="tema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712" y="1493672"/>
            <a:ext cx="441655" cy="441655"/>
          </a:xfrm>
          <a:prstGeom prst="rect">
            <a:avLst/>
          </a:prstGeom>
        </p:spPr>
      </p:pic>
      <p:sp>
        <p:nvSpPr>
          <p:cNvPr id="8" name="tema 2 círculo"/>
          <p:cNvSpPr/>
          <p:nvPr/>
        </p:nvSpPr>
        <p:spPr>
          <a:xfrm>
            <a:off x="6035040" y="2468880"/>
            <a:ext cx="960120" cy="9601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tema 2" descr="tema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4272" y="2728112"/>
            <a:ext cx="441655" cy="441655"/>
          </a:xfrm>
          <a:prstGeom prst="rect">
            <a:avLst/>
          </a:prstGeom>
        </p:spPr>
      </p:pic>
      <p:sp>
        <p:nvSpPr>
          <p:cNvPr id="10" name="tema 3 círculo"/>
          <p:cNvSpPr/>
          <p:nvPr/>
        </p:nvSpPr>
        <p:spPr>
          <a:xfrm>
            <a:off x="7269480" y="2468880"/>
            <a:ext cx="960120" cy="9601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tema 3" descr="tema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712" y="2728112"/>
            <a:ext cx="441655" cy="4416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DE DADOS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achismo ao dado</a:t>
            </a:r>
            <a:endParaRPr lang="en-US" sz="2600" dirty="0"/>
          </a:p>
        </p:txBody>
      </p:sp>
      <p:sp>
        <p:nvSpPr>
          <p:cNvPr id="4" name="Achismo"/>
          <p:cNvSpPr/>
          <p:nvPr/>
        </p:nvSpPr>
        <p:spPr>
          <a:xfrm>
            <a:off x="457200" y="1280160"/>
            <a:ext cx="361188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</p:spPr>
      </p:sp>
      <p:sp>
        <p:nvSpPr>
          <p:cNvPr id="5" name="Achismo círculo"/>
          <p:cNvSpPr/>
          <p:nvPr/>
        </p:nvSpPr>
        <p:spPr>
          <a:xfrm>
            <a:off x="1760220" y="1554480"/>
            <a:ext cx="1005840" cy="10058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Achismo" descr="Achism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1797" y="1826057"/>
            <a:ext cx="462686" cy="4626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26974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Achismo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2004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 feeling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6118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baseada em intuição e experiência</a:t>
            </a:r>
            <a:endParaRPr lang="en-US" sz="1700" dirty="0"/>
          </a:p>
        </p:txBody>
      </p:sp>
      <p:sp>
        <p:nvSpPr>
          <p:cNvPr id="10" name="Dado"/>
          <p:cNvSpPr/>
          <p:nvPr/>
        </p:nvSpPr>
        <p:spPr>
          <a:xfrm>
            <a:off x="5074920" y="1280160"/>
            <a:ext cx="3611880" cy="3291840"/>
          </a:xfrm>
          <a:prstGeom prst="roundRect">
            <a:avLst>
              <a:gd name="adj" fmla="val 2778"/>
            </a:avLst>
          </a:prstGeom>
          <a:solidFill>
            <a:schemeClr val="bg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Dado círculo"/>
          <p:cNvSpPr/>
          <p:nvPr/>
        </p:nvSpPr>
        <p:spPr>
          <a:xfrm>
            <a:off x="6377940" y="155448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Dado" descr="D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517" y="1826057"/>
            <a:ext cx="462686" cy="46268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074920" y="26974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5074920" y="32004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394960" y="361188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baseada em evidências e dados</a:t>
            </a:r>
            <a:endParaRPr lang="en-US" sz="1700" dirty="0"/>
          </a:p>
        </p:txBody>
      </p:sp>
      <p:pic>
        <p:nvPicPr>
          <p:cNvPr id="16" name="seta" descr="evoluçã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606040"/>
            <a:ext cx="548640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DE DADOS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Organização data-driven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de uma empresa que toma decisões orientadas a dados:</a:t>
            </a:r>
            <a:endParaRPr lang="en-US" sz="1700" dirty="0"/>
          </a:p>
        </p:txBody>
      </p:sp>
      <p:sp>
        <p:nvSpPr>
          <p:cNvPr id="5" name="Dados acessíveis"/>
          <p:cNvSpPr/>
          <p:nvPr/>
        </p:nvSpPr>
        <p:spPr>
          <a:xfrm>
            <a:off x="457200" y="1737360"/>
            <a:ext cx="1920240" cy="237744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Dados acessíveis círculo"/>
          <p:cNvSpPr/>
          <p:nvPr/>
        </p:nvSpPr>
        <p:spPr>
          <a:xfrm>
            <a:off x="960120" y="20574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Dados acessíveis" descr="Dados acessíve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304288"/>
            <a:ext cx="420624" cy="4206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2004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acessíveis</a:t>
            </a:r>
            <a:endParaRPr lang="en-US" sz="1500" dirty="0"/>
          </a:p>
        </p:txBody>
      </p:sp>
      <p:sp>
        <p:nvSpPr>
          <p:cNvPr id="9" name="Decisão baseada em evidências"/>
          <p:cNvSpPr/>
          <p:nvPr/>
        </p:nvSpPr>
        <p:spPr>
          <a:xfrm>
            <a:off x="2560320" y="1737360"/>
            <a:ext cx="1920240" cy="237744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Decisão baseada em evidências círculo"/>
          <p:cNvSpPr/>
          <p:nvPr/>
        </p:nvSpPr>
        <p:spPr>
          <a:xfrm>
            <a:off x="3063240" y="205740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1" name="Decisão baseada em evidências" descr="Decisão baseada em evidência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230428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51760" y="32004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baseada em evidências</a:t>
            </a:r>
            <a:endParaRPr lang="en-US" sz="1500" dirty="0"/>
          </a:p>
        </p:txBody>
      </p:sp>
      <p:sp>
        <p:nvSpPr>
          <p:cNvPr id="13" name="Times multidisciplinares"/>
          <p:cNvSpPr/>
          <p:nvPr/>
        </p:nvSpPr>
        <p:spPr>
          <a:xfrm>
            <a:off x="4663440" y="1737360"/>
            <a:ext cx="1920240" cy="237744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imes multidisciplinares círculo"/>
          <p:cNvSpPr/>
          <p:nvPr/>
        </p:nvSpPr>
        <p:spPr>
          <a:xfrm>
            <a:off x="5166360" y="20574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Times multidisciplinares" descr="Times multidisciplinar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230428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54880" y="32004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multidisciplinares</a:t>
            </a:r>
            <a:endParaRPr lang="en-US" sz="1500" dirty="0"/>
          </a:p>
        </p:txBody>
      </p:sp>
      <p:sp>
        <p:nvSpPr>
          <p:cNvPr id="17" name="Mentalidade de experimentação"/>
          <p:cNvSpPr/>
          <p:nvPr/>
        </p:nvSpPr>
        <p:spPr>
          <a:xfrm>
            <a:off x="6766560" y="1737360"/>
            <a:ext cx="1920240" cy="2377440"/>
          </a:xfrm>
          <a:prstGeom prst="roundRect">
            <a:avLst>
              <a:gd name="adj" fmla="val 4762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Mentalidade de experimentação círculo"/>
          <p:cNvSpPr/>
          <p:nvPr/>
        </p:nvSpPr>
        <p:spPr>
          <a:xfrm>
            <a:off x="7269480" y="2057400"/>
            <a:ext cx="914400" cy="9144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9" name="Mentalidade de experimentação" descr="Mentalidade de experimentaçã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2304288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58000" y="320040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Mentalidade de experimentação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DE DADOS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decisão</a:t>
            </a:r>
            <a:endParaRPr lang="en-US" sz="2600" dirty="0"/>
          </a:p>
        </p:txBody>
      </p:sp>
      <p:sp>
        <p:nvSpPr>
          <p:cNvPr id="4" name="seta ciclo"/>
          <p:cNvSpPr/>
          <p:nvPr/>
        </p:nvSpPr>
        <p:spPr>
          <a:xfrm>
            <a:off x="5011632" y="1890762"/>
            <a:ext cx="1733984" cy="424716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" name="seta ciclo"/>
          <p:cNvSpPr/>
          <p:nvPr/>
        </p:nvSpPr>
        <p:spPr>
          <a:xfrm>
            <a:off x="7185249" y="2875788"/>
            <a:ext cx="914" cy="37490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" name="seta ciclo"/>
          <p:cNvSpPr/>
          <p:nvPr/>
        </p:nvSpPr>
        <p:spPr>
          <a:xfrm flipH="1">
            <a:off x="5011632" y="3811002"/>
            <a:ext cx="1733984" cy="424716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eta ciclo"/>
          <p:cNvSpPr/>
          <p:nvPr/>
        </p:nvSpPr>
        <p:spPr>
          <a:xfrm flipH="1" flipV="1">
            <a:off x="2398383" y="3811002"/>
            <a:ext cx="1733984" cy="424716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eta ciclo"/>
          <p:cNvSpPr/>
          <p:nvPr/>
        </p:nvSpPr>
        <p:spPr>
          <a:xfrm flipH="1" flipV="1">
            <a:off x="1958751" y="2875788"/>
            <a:ext cx="914" cy="374904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eta ciclo"/>
          <p:cNvSpPr/>
          <p:nvPr/>
        </p:nvSpPr>
        <p:spPr>
          <a:xfrm flipV="1">
            <a:off x="2398383" y="1890762"/>
            <a:ext cx="1733984" cy="424716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Coleta círculo"/>
          <p:cNvSpPr/>
          <p:nvPr/>
        </p:nvSpPr>
        <p:spPr>
          <a:xfrm>
            <a:off x="4229100" y="14401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oleta" descr="Cole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4266" y="1625346"/>
            <a:ext cx="315468" cy="31546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657600" y="10561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Coleta</a:t>
            </a:r>
            <a:endParaRPr lang="en-US" sz="1500" dirty="0"/>
          </a:p>
        </p:txBody>
      </p:sp>
      <p:sp>
        <p:nvSpPr>
          <p:cNvPr id="13" name="Análise círculo"/>
          <p:cNvSpPr/>
          <p:nvPr/>
        </p:nvSpPr>
        <p:spPr>
          <a:xfrm>
            <a:off x="6842349" y="208026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4" name="Análise" descr="Análi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515" y="2265426"/>
            <a:ext cx="315468" cy="31546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619589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Análise</a:t>
            </a:r>
            <a:endParaRPr lang="en-US" sz="1500" dirty="0"/>
          </a:p>
        </p:txBody>
      </p:sp>
      <p:sp>
        <p:nvSpPr>
          <p:cNvPr id="16" name="Geração de insight círculo"/>
          <p:cNvSpPr/>
          <p:nvPr/>
        </p:nvSpPr>
        <p:spPr>
          <a:xfrm>
            <a:off x="6842349" y="336042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Geração de insight" descr="Geração de ins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515" y="3545586"/>
            <a:ext cx="315468" cy="3154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619589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Geração de insight</a:t>
            </a:r>
            <a:endParaRPr lang="en-US" sz="1500" dirty="0"/>
          </a:p>
        </p:txBody>
      </p:sp>
      <p:sp>
        <p:nvSpPr>
          <p:cNvPr id="19" name="Decisão círculo"/>
          <p:cNvSpPr/>
          <p:nvPr/>
        </p:nvSpPr>
        <p:spPr>
          <a:xfrm>
            <a:off x="4229100" y="400050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Decisão" descr="Decisã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4266" y="4185666"/>
            <a:ext cx="315468" cy="3154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657600" y="47320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Decisão</a:t>
            </a:r>
            <a:endParaRPr lang="en-US" sz="1500" dirty="0"/>
          </a:p>
        </p:txBody>
      </p:sp>
      <p:sp>
        <p:nvSpPr>
          <p:cNvPr id="22" name="Ação círculo"/>
          <p:cNvSpPr/>
          <p:nvPr/>
        </p:nvSpPr>
        <p:spPr>
          <a:xfrm>
            <a:off x="1615851" y="336042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Ação" descr="Açã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1017" y="3545586"/>
            <a:ext cx="315468" cy="31546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-121509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Ação</a:t>
            </a:r>
            <a:endParaRPr lang="en-US" sz="1500" dirty="0"/>
          </a:p>
        </p:txBody>
      </p:sp>
      <p:sp>
        <p:nvSpPr>
          <p:cNvPr id="25" name="Mensuração círculo"/>
          <p:cNvSpPr/>
          <p:nvPr/>
        </p:nvSpPr>
        <p:spPr>
          <a:xfrm>
            <a:off x="1615851" y="2080260"/>
            <a:ext cx="685800" cy="6858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6" name="Mensuração" descr="Mensuraçã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1017" y="2265426"/>
            <a:ext cx="315468" cy="31546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-121509" y="2240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Mensuração</a:t>
            </a:r>
            <a:endParaRPr lang="en-US" sz="1500" dirty="0"/>
          </a:p>
        </p:txBody>
      </p:sp>
      <p:sp>
        <p:nvSpPr>
          <p:cNvPr id="28" name="centro"/>
          <p:cNvSpPr/>
          <p:nvPr/>
        </p:nvSpPr>
        <p:spPr>
          <a:xfrm>
            <a:off x="4251960" y="2560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repete" descr="cicl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6552" y="2724912"/>
            <a:ext cx="310896" cy="31089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384048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recomeça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DE DADOS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Papel da ciência de dados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apenas rodar o algoritmo e ver o resultado: </a:t>
            </a:r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traduzir o dado bruto em recomendações acionáveis.</a:t>
            </a:r>
            <a:endParaRPr lang="en-US" sz="2400" dirty="0"/>
          </a:p>
        </p:txBody>
      </p:sp>
      <p:sp>
        <p:nvSpPr>
          <p:cNvPr id="5" name="Dado bruto"/>
          <p:cNvSpPr/>
          <p:nvPr/>
        </p:nvSpPr>
        <p:spPr>
          <a:xfrm>
            <a:off x="457200" y="2743200"/>
            <a:ext cx="23774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6" name="Dado bruto círculo"/>
          <p:cNvSpPr/>
          <p:nvPr/>
        </p:nvSpPr>
        <p:spPr>
          <a:xfrm>
            <a:off x="1325880" y="292608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Dado bruto" descr="Dado bru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8702" y="3098902"/>
            <a:ext cx="294437" cy="29443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bruto</a:t>
            </a:r>
            <a:endParaRPr lang="en-US" sz="1600" dirty="0"/>
          </a:p>
        </p:txBody>
      </p:sp>
      <p:pic>
        <p:nvPicPr>
          <p:cNvPr id="9" name="seta" descr="se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3291840"/>
            <a:ext cx="274320" cy="274320"/>
          </a:xfrm>
          <a:prstGeom prst="rect">
            <a:avLst/>
          </a:prstGeom>
        </p:spPr>
      </p:pic>
      <p:sp>
        <p:nvSpPr>
          <p:cNvPr id="10" name="Rodar o algoritmo"/>
          <p:cNvSpPr/>
          <p:nvPr/>
        </p:nvSpPr>
        <p:spPr>
          <a:xfrm>
            <a:off x="3383280" y="2743200"/>
            <a:ext cx="237744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11" name="Rodar o algoritmo círculo"/>
          <p:cNvSpPr/>
          <p:nvPr/>
        </p:nvSpPr>
        <p:spPr>
          <a:xfrm>
            <a:off x="4251960" y="292608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Rodar o algoritmo" descr="Rodar o algoritm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782" y="3098902"/>
            <a:ext cx="294437" cy="29443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47472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 algoritmo</a:t>
            </a:r>
            <a:endParaRPr lang="en-US" sz="1600" dirty="0"/>
          </a:p>
        </p:txBody>
      </p:sp>
      <p:pic>
        <p:nvPicPr>
          <p:cNvPr id="14" name="seta" descr="set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291840"/>
            <a:ext cx="274320" cy="274320"/>
          </a:xfrm>
          <a:prstGeom prst="rect">
            <a:avLst/>
          </a:prstGeom>
        </p:spPr>
      </p:pic>
      <p:sp>
        <p:nvSpPr>
          <p:cNvPr id="15" name="Recomendação acionável"/>
          <p:cNvSpPr/>
          <p:nvPr/>
        </p:nvSpPr>
        <p:spPr>
          <a:xfrm>
            <a:off x="6309360" y="2743200"/>
            <a:ext cx="2377440" cy="1463040"/>
          </a:xfrm>
          <a:prstGeom prst="roundRect">
            <a:avLst>
              <a:gd name="adj" fmla="val 6250"/>
            </a:avLst>
          </a:prstGeom>
          <a:solidFill>
            <a:schemeClr val="accent1"/>
          </a:solidFill>
          <a:ln/>
        </p:spPr>
      </p:sp>
      <p:sp>
        <p:nvSpPr>
          <p:cNvPr id="16" name="Recomendação acionável círculo"/>
          <p:cNvSpPr/>
          <p:nvPr/>
        </p:nvSpPr>
        <p:spPr>
          <a:xfrm>
            <a:off x="7178040" y="2926080"/>
            <a:ext cx="640080" cy="6400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7" name="Recomendação acionável" descr="Recomendação acionáve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0862" y="3098902"/>
            <a:ext cx="294437" cy="29443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400800" y="3657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acionável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3383280" y="4297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algoritmo é só o meio do caminho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DE DADOS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Barreiras para ser data-driven</a:t>
            </a:r>
            <a:endParaRPr lang="en-US" sz="2600" dirty="0"/>
          </a:p>
        </p:txBody>
      </p:sp>
      <p:sp>
        <p:nvSpPr>
          <p:cNvPr id="4" name="Resistência cultural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Resistência cultural círculo"/>
          <p:cNvSpPr/>
          <p:nvPr/>
        </p:nvSpPr>
        <p:spPr>
          <a:xfrm>
            <a:off x="731520" y="160020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Resistência cultural" descr="Resistência cultur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1822399"/>
            <a:ext cx="378562" cy="3785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43560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Resistência cultural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0756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acostumadas a decidir pela intuição</a:t>
            </a:r>
            <a:endParaRPr lang="en-US" sz="1400" dirty="0"/>
          </a:p>
        </p:txBody>
      </p:sp>
      <p:sp>
        <p:nvSpPr>
          <p:cNvPr id="9" name="Falta de qualidade nos dados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Falta de qualidade nos dados círculo"/>
          <p:cNvSpPr/>
          <p:nvPr/>
        </p:nvSpPr>
        <p:spPr>
          <a:xfrm>
            <a:off x="4937760" y="160020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1" name="Falta de qualidade nos dados" descr="Falta de qualidade nos dad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959" y="1822399"/>
            <a:ext cx="378562" cy="37856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989320" y="143560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de qualidade nos dados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989320" y="207568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incompletos, duplicados ou errados</a:t>
            </a:r>
            <a:endParaRPr lang="en-US" sz="1400" dirty="0"/>
          </a:p>
        </p:txBody>
      </p:sp>
      <p:sp>
        <p:nvSpPr>
          <p:cNvPr id="14" name="Silos de dados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ilos de dados círculo"/>
          <p:cNvSpPr/>
          <p:nvPr/>
        </p:nvSpPr>
        <p:spPr>
          <a:xfrm>
            <a:off x="731520" y="333756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Silos de dados" descr="Silos de dado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3559759"/>
            <a:ext cx="378562" cy="37856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31729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Silos de dados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783080" y="38130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área guarda seus dados isolados das outras</a:t>
            </a:r>
            <a:endParaRPr lang="en-US" sz="1400" dirty="0"/>
          </a:p>
        </p:txBody>
      </p:sp>
      <p:sp>
        <p:nvSpPr>
          <p:cNvPr id="19" name="Decisões já tomadas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Decisões já tomadas círculo"/>
          <p:cNvSpPr/>
          <p:nvPr/>
        </p:nvSpPr>
        <p:spPr>
          <a:xfrm>
            <a:off x="4937760" y="333756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1" name="Decisões já tomadas" descr="Decisões já tomada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959" y="3559759"/>
            <a:ext cx="378562" cy="37856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989320" y="317296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já tomadas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989320" y="38130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é usado só para justificar uma decisão que já existia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CIÊNCIA DE DADOS</a:t>
            </a:r>
            <a:endParaRPr lang="en-US" sz="11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Hierarquia DIKW</a:t>
            </a:r>
            <a:endParaRPr lang="en-US" sz="2600" dirty="0"/>
          </a:p>
        </p:txBody>
      </p:sp>
      <p:sp>
        <p:nvSpPr>
          <p:cNvPr id="4" name="nível Wisdom"/>
          <p:cNvSpPr/>
          <p:nvPr/>
        </p:nvSpPr>
        <p:spPr>
          <a:xfrm>
            <a:off x="1554480" y="1188720"/>
            <a:ext cx="1371600" cy="80467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554480" y="1188720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Wisdom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Sabedoria</a:t>
            </a:r>
            <a:endParaRPr lang="en-US" sz="1500" dirty="0"/>
          </a:p>
        </p:txBody>
      </p:sp>
      <p:sp>
        <p:nvSpPr>
          <p:cNvPr id="6" name="guia"/>
          <p:cNvSpPr/>
          <p:nvPr/>
        </p:nvSpPr>
        <p:spPr>
          <a:xfrm>
            <a:off x="2971800" y="1591056"/>
            <a:ext cx="1188720" cy="914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251960" y="118872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aplicado com julgamento, valor e visão estratégica: "por quê? o que fazer?"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Vale a pena aumentar o destaque do sorvete na home do nosso app nos dias com previsão acima de 35°</a:t>
            </a:r>
            <a:endParaRPr lang="en-US" sz="1300" dirty="0"/>
          </a:p>
        </p:txBody>
      </p:sp>
      <p:sp>
        <p:nvSpPr>
          <p:cNvPr id="8" name="nível Knowledge"/>
          <p:cNvSpPr/>
          <p:nvPr/>
        </p:nvSpPr>
        <p:spPr>
          <a:xfrm>
            <a:off x="1234440" y="2048256"/>
            <a:ext cx="2011680" cy="804672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2048256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Conhecimento</a:t>
            </a:r>
            <a:endParaRPr lang="en-US" sz="1500" dirty="0"/>
          </a:p>
        </p:txBody>
      </p:sp>
      <p:sp>
        <p:nvSpPr>
          <p:cNvPr id="10" name="guia"/>
          <p:cNvSpPr/>
          <p:nvPr/>
        </p:nvSpPr>
        <p:spPr>
          <a:xfrm>
            <a:off x="3291840" y="2450592"/>
            <a:ext cx="868680" cy="914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4251960" y="2048256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cruzada com outras informações para revelar padrões: "como?"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Nos últimos anos, dias acima de 35° aumentaram em 20% a venda de sorvete</a:t>
            </a:r>
            <a:endParaRPr lang="en-US" sz="1300" dirty="0"/>
          </a:p>
        </p:txBody>
      </p:sp>
      <p:sp>
        <p:nvSpPr>
          <p:cNvPr id="12" name="nível Information"/>
          <p:cNvSpPr/>
          <p:nvPr/>
        </p:nvSpPr>
        <p:spPr>
          <a:xfrm>
            <a:off x="914400" y="2907792"/>
            <a:ext cx="2651760" cy="804672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2907792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</a:t>
            </a:r>
            <a:endParaRPr lang="en-US" sz="1500" dirty="0"/>
          </a:p>
        </p:txBody>
      </p:sp>
      <p:sp>
        <p:nvSpPr>
          <p:cNvPr id="14" name="guia"/>
          <p:cNvSpPr/>
          <p:nvPr/>
        </p:nvSpPr>
        <p:spPr>
          <a:xfrm>
            <a:off x="3611880" y="3310128"/>
            <a:ext cx="548640" cy="914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4251960" y="2907792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ganha contexto: "o quê, quem, onde, quando"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A temperatura em SP foi 37°</a:t>
            </a:r>
            <a:endParaRPr lang="en-US" sz="1300" dirty="0"/>
          </a:p>
        </p:txBody>
      </p:sp>
      <p:sp>
        <p:nvSpPr>
          <p:cNvPr id="16" name="nível Data"/>
          <p:cNvSpPr/>
          <p:nvPr/>
        </p:nvSpPr>
        <p:spPr>
          <a:xfrm>
            <a:off x="594360" y="3767328"/>
            <a:ext cx="3291840" cy="80467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767328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500" dirty="0"/>
          </a:p>
        </p:txBody>
      </p:sp>
      <p:sp>
        <p:nvSpPr>
          <p:cNvPr id="18" name="guia"/>
          <p:cNvSpPr/>
          <p:nvPr/>
        </p:nvSpPr>
        <p:spPr>
          <a:xfrm>
            <a:off x="3931920" y="4169664"/>
            <a:ext cx="228600" cy="914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4251960" y="3767328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 isolado, sem contexto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37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encia de Dados">
  <a:themeElements>
    <a:clrScheme name="Ciencia de Dados">
      <a:dk1>
        <a:srgbClr val="16213E"/>
      </a:dk1>
      <a:lt1>
        <a:srgbClr val="FFFFFF"/>
      </a:lt1>
      <a:dk2>
        <a:srgbClr val="334155"/>
      </a:dk2>
      <a:lt2>
        <a:srgbClr val="EEF2F7"/>
      </a:lt2>
      <a:accent1>
        <a:srgbClr val="0D9488"/>
      </a:accent1>
      <a:accent2>
        <a:srgbClr val="D97706"/>
      </a:accent2>
      <a:accent3>
        <a:srgbClr val="4F46E5"/>
      </a:accent3>
      <a:accent4>
        <a:srgbClr val="DB2777"/>
      </a:accent4>
      <a:accent5>
        <a:srgbClr val="0284C7"/>
      </a:accent5>
      <a:accent6>
        <a:srgbClr val="7C3AED"/>
      </a:accent6>
      <a:hlink>
        <a:srgbClr val="4F46E5"/>
      </a:hlink>
      <a:folHlink>
        <a:srgbClr val="7C3AED"/>
      </a:folHlink>
    </a:clrScheme>
    <a:fontScheme name="Ciencia de Dado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Ciência de Dados</dc:title>
  <dc:subject>PptxGenJS Presentation</dc:subject>
  <dc:creator>PptxGenJS</dc:creator>
  <cp:lastModifiedBy>PptxGenJS</cp:lastModifiedBy>
  <cp:revision>1</cp:revision>
  <dcterms:created xsi:type="dcterms:W3CDTF">2026-10-16T22:17:29Z</dcterms:created>
  <dcterms:modified xsi:type="dcterms:W3CDTF">2026-10-16T22:17:29Z</dcterms:modified>
</cp:coreProperties>
</file>