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bb5b702-d99a-fd7a-8519-a84002383715}">
          <p14:sldIdLst>
            <p14:sldId id="256"/>
          </p14:sldIdLst>
        </p14:section>
        <p14:section name="Conceitos" id="{a0237298-ca22-7393-8497-d76305584a14}">
          <p14:sldIdLst>
            <p14:sldId id="257"/>
            <p14:sldId id="258"/>
            <p14:sldId id="259"/>
            <p14:sldId id="260"/>
            <p14:sldId id="261"/>
          </p14:sldIdLst>
        </p14:section>
        <p14:section name="Na prática" id="{5f3749c4-f1b0-5a04-4e5a-02eb8399030f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ncerramento" id="{8ee7e74f-b2f0-47a5-2cfb-c908e2c95ce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pergunte à turma onde eles acham que já usaram Machine Learning hoje (recomendações, filtro de spam, desbloqueio facial). Use as respostas para conectar com o slide de exemplos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clássica (Arthur Samuel, 1959): dar ao computador a capacidade de aprender sem ser explicitamente programado. Compare as duas linhas: na programação tradicional escrevemos as regras; no ML entregamos dados e respostas e o algoritmo encontra as regras, que chamamos de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Deep Learning é Machine Learning, e todo Machine Learning é IA, mas o contrário não vale. Um sistema de regras fixas (ex.: um jogo da velha programado com if/else) é IA, mas não é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Supervisionado é o mais usado no mercado e o foco dos próximos slides. Não supervisionado: clustering, como segmentação de clientes. Reforço: o agente recebe recompensa ou punição a cada ação, como em jogos.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 para a turma: a resposta é uma categoria ou um número? Categoria: classificação, o modelo aprende uma fronteira que separa as classes. Número: regressão, o modelo aprende uma curva ou reta que acompanha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do imóvel para fixar os termos. Features (ou atributos) são as colunas de entrada; target (ou rótulo) é a coluna que queremos prever. Na última linha o preço é desconhecido: é isso que o modelo vai prever.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não é linear: depois de avaliar, muitas vezes voltamos para coletar mais dados ou preparar melhor. Reforce que o algoritmo é só uma etapa; entender o problema e cuidar dos dados é o que mais pesa no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divisão 80/20 é comum, mas 70/30 também aparece. O ponto principal: nunca avaliar o modelo com os mesmos dados usados no treino, senão a nota fica inflada.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a analogia da prova: overfitting é o aluno que decorou as respostas da lista e trava em questões novas. Underfitting é quem não estudou o suficiente. O objetivo é o meio-termo: aprender o padrão, não os detalhes.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sozinha engana quando as classes são desbalanceadas. Precisão importa quando o falso positivo custa caro (e-mail importante indo para o spam). Recall importa quando deixar passar custa caro (não detectar uma fraude ou uma doença). Para regressão, usamos medidas de erro como MAE e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a turma classificar cada exemplo: é classificação, regressão ou agrupamento? Spam e fraude: classificação. Previsão de demanda: regressão. Recomendações costumam combinar várias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viés para discutir: um modelo de seleção de currículos treinado com contratações antigas pode aprender a favorecer o perfil que já era contratado. Explicabilidade é especialmente importante em crédito, saúde e decisões que afetam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a pergunta da abertura: onde vocês usaram ML hoje? Agora a turma deve conseguir dizer qual tipo de aprendizado está por trás de cada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 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Como as máquinas aprendem com dados</a:t>
            </a:r>
            <a:endParaRPr lang="en-US" sz="2000" dirty="0"/>
          </a:p>
        </p:txBody>
      </p:sp>
      <p:sp>
        <p:nvSpPr>
          <p:cNvPr id="4" name="tema 0 círculo"/>
          <p:cNvSpPr/>
          <p:nvPr/>
        </p:nvSpPr>
        <p:spPr>
          <a:xfrm>
            <a:off x="6035040" y="123444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ema 0" descr="tema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272" y="1493672"/>
            <a:ext cx="441655" cy="441655"/>
          </a:xfrm>
          <a:prstGeom prst="rect">
            <a:avLst/>
          </a:prstGeom>
        </p:spPr>
      </p:pic>
      <p:sp>
        <p:nvSpPr>
          <p:cNvPr id="6" name="tema 1 círculo"/>
          <p:cNvSpPr/>
          <p:nvPr/>
        </p:nvSpPr>
        <p:spPr>
          <a:xfrm>
            <a:off x="7269480" y="123444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tema 1" descr="tem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12" y="1493672"/>
            <a:ext cx="441655" cy="441655"/>
          </a:xfrm>
          <a:prstGeom prst="rect">
            <a:avLst/>
          </a:prstGeom>
        </p:spPr>
      </p:pic>
      <p:sp>
        <p:nvSpPr>
          <p:cNvPr id="8" name="tema 2 círculo"/>
          <p:cNvSpPr/>
          <p:nvPr/>
        </p:nvSpPr>
        <p:spPr>
          <a:xfrm>
            <a:off x="6035040" y="246888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tema 2" descr="tem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72" y="2728112"/>
            <a:ext cx="441655" cy="441655"/>
          </a:xfrm>
          <a:prstGeom prst="rect">
            <a:avLst/>
          </a:prstGeom>
        </p:spPr>
      </p:pic>
      <p:sp>
        <p:nvSpPr>
          <p:cNvPr id="10" name="tema 3 círculo"/>
          <p:cNvSpPr/>
          <p:nvPr/>
        </p:nvSpPr>
        <p:spPr>
          <a:xfrm>
            <a:off x="7269480" y="246888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tema 3" descr="tem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712" y="2728112"/>
            <a:ext cx="441655" cy="441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Machine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da IA em que o computador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padrões a partir de dados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 que cada regra seja programada à mão.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tradicional</a:t>
            </a:r>
            <a:endParaRPr lang="en-US" sz="1600" dirty="0"/>
          </a:p>
        </p:txBody>
      </p:sp>
      <p:sp>
        <p:nvSpPr>
          <p:cNvPr id="6" name="Regras"/>
          <p:cNvSpPr/>
          <p:nvPr/>
        </p:nvSpPr>
        <p:spPr>
          <a:xfrm>
            <a:off x="2423160" y="2148840"/>
            <a:ext cx="16459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7" name="Regras círculo"/>
          <p:cNvSpPr/>
          <p:nvPr/>
        </p:nvSpPr>
        <p:spPr>
          <a:xfrm>
            <a:off x="2560320" y="23088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Regras" descr="Reg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24277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108960" y="21488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500" dirty="0"/>
          </a:p>
        </p:txBody>
      </p:sp>
      <p:sp>
        <p:nvSpPr>
          <p:cNvPr id="10" name="Dados"/>
          <p:cNvSpPr/>
          <p:nvPr/>
        </p:nvSpPr>
        <p:spPr>
          <a:xfrm>
            <a:off x="4434840" y="2148840"/>
            <a:ext cx="16459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1" name="Dados círculo"/>
          <p:cNvSpPr/>
          <p:nvPr/>
        </p:nvSpPr>
        <p:spPr>
          <a:xfrm>
            <a:off x="4572000" y="23088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Dados" descr="D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4277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0640" y="21488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500" dirty="0"/>
          </a:p>
        </p:txBody>
      </p:sp>
      <p:sp>
        <p:nvSpPr>
          <p:cNvPr id="14" name="Respostas"/>
          <p:cNvSpPr/>
          <p:nvPr/>
        </p:nvSpPr>
        <p:spPr>
          <a:xfrm>
            <a:off x="6492240" y="2148840"/>
            <a:ext cx="21945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5" name="Respostas círculo"/>
          <p:cNvSpPr/>
          <p:nvPr/>
        </p:nvSpPr>
        <p:spPr>
          <a:xfrm>
            <a:off x="6629400" y="23088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Respostas" descr="Respost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4277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78040" y="21488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500" dirty="0"/>
          </a:p>
        </p:txBody>
      </p:sp>
      <p:pic>
        <p:nvPicPr>
          <p:cNvPr id="18" name="mais" descr="ma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2418588"/>
            <a:ext cx="237744" cy="237744"/>
          </a:xfrm>
          <a:prstGeom prst="rect">
            <a:avLst/>
          </a:prstGeom>
        </p:spPr>
      </p:pic>
      <p:pic>
        <p:nvPicPr>
          <p:cNvPr id="19" name="seta" descr="resulta 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24003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57200" y="3200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1" name="Dados"/>
          <p:cNvSpPr/>
          <p:nvPr/>
        </p:nvSpPr>
        <p:spPr>
          <a:xfrm>
            <a:off x="2423160" y="3200400"/>
            <a:ext cx="16459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Dados círculo"/>
          <p:cNvSpPr/>
          <p:nvPr/>
        </p:nvSpPr>
        <p:spPr>
          <a:xfrm>
            <a:off x="2560320" y="33604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Dados" descr="Dad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2" y="3479292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108960" y="32004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500" dirty="0"/>
          </a:p>
        </p:txBody>
      </p:sp>
      <p:sp>
        <p:nvSpPr>
          <p:cNvPr id="25" name="Respostas"/>
          <p:cNvSpPr/>
          <p:nvPr/>
        </p:nvSpPr>
        <p:spPr>
          <a:xfrm>
            <a:off x="4434840" y="3200400"/>
            <a:ext cx="16459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6" name="Respostas círculo"/>
          <p:cNvSpPr/>
          <p:nvPr/>
        </p:nvSpPr>
        <p:spPr>
          <a:xfrm>
            <a:off x="4572000" y="33604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Respostas" descr="Resposta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479292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120640" y="32004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500" dirty="0"/>
          </a:p>
        </p:txBody>
      </p:sp>
      <p:sp>
        <p:nvSpPr>
          <p:cNvPr id="29" name="Regras (o modelo)"/>
          <p:cNvSpPr/>
          <p:nvPr/>
        </p:nvSpPr>
        <p:spPr>
          <a:xfrm>
            <a:off x="6492240" y="3200400"/>
            <a:ext cx="219456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30" name="Regras (o modelo) círculo"/>
          <p:cNvSpPr/>
          <p:nvPr/>
        </p:nvSpPr>
        <p:spPr>
          <a:xfrm>
            <a:off x="6629400" y="33604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Regras (o modelo)" descr="Regras (o modelo)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3479292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804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(o modelo)</a:t>
            </a:r>
            <a:endParaRPr lang="en-US" sz="1500" dirty="0"/>
          </a:p>
        </p:txBody>
      </p:sp>
      <p:pic>
        <p:nvPicPr>
          <p:cNvPr id="33" name="mais" descr="mai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088" y="3470148"/>
            <a:ext cx="237744" cy="237744"/>
          </a:xfrm>
          <a:prstGeom prst="rect">
            <a:avLst/>
          </a:prstGeom>
        </p:spPr>
      </p:pic>
      <p:pic>
        <p:nvPicPr>
          <p:cNvPr id="34" name="seta" descr="resulta e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912" y="3451860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ML, mostramos exemplos com as respostas e o computador descobre as regras sozinho.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Machine Learning e Deep Learning</a:t>
            </a:r>
            <a:endParaRPr lang="en-US" sz="2600" dirty="0"/>
          </a:p>
        </p:txBody>
      </p:sp>
      <p:sp>
        <p:nvSpPr>
          <p:cNvPr id="4" name="círculo Inteligência Artificial"/>
          <p:cNvSpPr/>
          <p:nvPr/>
        </p:nvSpPr>
        <p:spPr>
          <a:xfrm>
            <a:off x="457200" y="1325880"/>
            <a:ext cx="3108960" cy="3108960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27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800" dirty="0"/>
          </a:p>
        </p:txBody>
      </p:sp>
      <p:sp>
        <p:nvSpPr>
          <p:cNvPr id="6" name="círculo Machine Learning"/>
          <p:cNvSpPr/>
          <p:nvPr/>
        </p:nvSpPr>
        <p:spPr>
          <a:xfrm>
            <a:off x="914400" y="2240280"/>
            <a:ext cx="2194560" cy="21945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800" dirty="0"/>
          </a:p>
        </p:txBody>
      </p:sp>
      <p:sp>
        <p:nvSpPr>
          <p:cNvPr id="8" name="círculo Deep Learning"/>
          <p:cNvSpPr/>
          <p:nvPr/>
        </p:nvSpPr>
        <p:spPr>
          <a:xfrm>
            <a:off x="1371600" y="3154680"/>
            <a:ext cx="1280160" cy="128016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800" dirty="0"/>
          </a:p>
        </p:txBody>
      </p:sp>
      <p:sp>
        <p:nvSpPr>
          <p:cNvPr id="10" name="Inteligência Artificial círculo"/>
          <p:cNvSpPr/>
          <p:nvPr/>
        </p:nvSpPr>
        <p:spPr>
          <a:xfrm>
            <a:off x="4023360" y="139903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nteligência Artificial" descr="Inteligência Artif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8526" y="1584198"/>
            <a:ext cx="315468" cy="3154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92040" y="1325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7099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técnica que faz a máquina imitar comportamentos inteligentes.</a:t>
            </a:r>
            <a:endParaRPr lang="en-US" sz="1400" dirty="0"/>
          </a:p>
        </p:txBody>
      </p:sp>
      <p:sp>
        <p:nvSpPr>
          <p:cNvPr id="14" name="Machine Learning círculo"/>
          <p:cNvSpPr/>
          <p:nvPr/>
        </p:nvSpPr>
        <p:spPr>
          <a:xfrm>
            <a:off x="4023360" y="249631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achine Learning" descr="Machine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526" y="2681478"/>
            <a:ext cx="315468" cy="3154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92040" y="2423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8072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Subárea da IA em que a máquina aprende com dados.</a:t>
            </a:r>
            <a:endParaRPr lang="en-US" sz="1400" dirty="0"/>
          </a:p>
        </p:txBody>
      </p:sp>
      <p:sp>
        <p:nvSpPr>
          <p:cNvPr id="18" name="Deep Learning círculo"/>
          <p:cNvSpPr/>
          <p:nvPr/>
        </p:nvSpPr>
        <p:spPr>
          <a:xfrm>
            <a:off x="4023360" y="3593592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Deep Learning" descr="Deep Le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526" y="3778758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92040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390448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Subárea do ML com redes neurais de muitas camadas: base do reconhecimento de imagem e dos chatbots.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aprendizado</a:t>
            </a:r>
            <a:endParaRPr lang="en-US" sz="2600" dirty="0"/>
          </a:p>
        </p:txBody>
      </p:sp>
      <p:sp>
        <p:nvSpPr>
          <p:cNvPr id="4" name="Supervisionado"/>
          <p:cNvSpPr/>
          <p:nvPr/>
        </p:nvSpPr>
        <p:spPr>
          <a:xfrm>
            <a:off x="45720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upervisionado círculo"/>
          <p:cNvSpPr/>
          <p:nvPr/>
        </p:nvSpPr>
        <p:spPr>
          <a:xfrm>
            <a:off x="731520" y="1508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upervisionado" descr="Supervision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73095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Supervisionado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exemplos que já têm a resposta certa (o rótulo).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50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</a:t>
            </a:r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se um e-mail é spam</a:t>
            </a:r>
            <a:endParaRPr lang="en-US" sz="1400" dirty="0"/>
          </a:p>
        </p:txBody>
      </p:sp>
      <p:sp>
        <p:nvSpPr>
          <p:cNvPr id="10" name="Não supervisionado"/>
          <p:cNvSpPr/>
          <p:nvPr/>
        </p:nvSpPr>
        <p:spPr>
          <a:xfrm>
            <a:off x="329184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Não supervisionado círculo"/>
          <p:cNvSpPr/>
          <p:nvPr/>
        </p:nvSpPr>
        <p:spPr>
          <a:xfrm>
            <a:off x="3566160" y="15087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Não supervisionado" descr="Não supervision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173095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supervisionado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resposta certa: o modelo procura grupos e padrões sozinho.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4050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</a:t>
            </a:r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 com hábitos parecidos</a:t>
            </a:r>
            <a:endParaRPr lang="en-US" sz="1400" dirty="0"/>
          </a:p>
        </p:txBody>
      </p:sp>
      <p:sp>
        <p:nvSpPr>
          <p:cNvPr id="16" name="Por reforço"/>
          <p:cNvSpPr/>
          <p:nvPr/>
        </p:nvSpPr>
        <p:spPr>
          <a:xfrm>
            <a:off x="612648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Por reforço círculo"/>
          <p:cNvSpPr/>
          <p:nvPr/>
        </p:nvSpPr>
        <p:spPr>
          <a:xfrm>
            <a:off x="6400800" y="15087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or reforço" descr="Por reforç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73095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reforço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tentativa e erro, com recompensas pelos acertos.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4050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</a:t>
            </a:r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e IA que joga xadrez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 SUPERVISIONADO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x regressão</a:t>
            </a:r>
            <a:endParaRPr lang="en-US" sz="2600" dirty="0"/>
          </a:p>
        </p:txBody>
      </p:sp>
      <p:sp>
        <p:nvSpPr>
          <p:cNvPr id="4" name="Classificação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Classificação círculo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Classificação" descr="Classific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6358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35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uma categoria</a:t>
            </a:r>
            <a:endParaRPr lang="en-US" sz="1400" dirty="0"/>
          </a:p>
        </p:txBody>
      </p:sp>
      <p:sp>
        <p:nvSpPr>
          <p:cNvPr id="9" name="eixo y"/>
          <p:cNvSpPr/>
          <p:nvPr/>
        </p:nvSpPr>
        <p:spPr>
          <a:xfrm>
            <a:off x="868680" y="2331720"/>
            <a:ext cx="914" cy="13258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0" name="eixo x"/>
          <p:cNvSpPr/>
          <p:nvPr/>
        </p:nvSpPr>
        <p:spPr>
          <a:xfrm>
            <a:off x="868680" y="3657600"/>
            <a:ext cx="310896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3694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e-mail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links</a:t>
            </a:r>
            <a:endParaRPr lang="en-US" sz="1050" dirty="0"/>
          </a:p>
        </p:txBody>
      </p:sp>
      <p:sp>
        <p:nvSpPr>
          <p:cNvPr id="13" name="ponto"/>
          <p:cNvSpPr/>
          <p:nvPr/>
        </p:nvSpPr>
        <p:spPr>
          <a:xfrm>
            <a:off x="1120140" y="333298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ponto"/>
          <p:cNvSpPr/>
          <p:nvPr/>
        </p:nvSpPr>
        <p:spPr>
          <a:xfrm>
            <a:off x="1493215" y="300151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ponto"/>
          <p:cNvSpPr/>
          <p:nvPr/>
        </p:nvSpPr>
        <p:spPr>
          <a:xfrm>
            <a:off x="1804111" y="339928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ponto"/>
          <p:cNvSpPr/>
          <p:nvPr/>
        </p:nvSpPr>
        <p:spPr>
          <a:xfrm>
            <a:off x="2115007" y="32004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ponto"/>
          <p:cNvSpPr/>
          <p:nvPr/>
        </p:nvSpPr>
        <p:spPr>
          <a:xfrm>
            <a:off x="1275588" y="277611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ponto"/>
          <p:cNvSpPr/>
          <p:nvPr/>
        </p:nvSpPr>
        <p:spPr>
          <a:xfrm>
            <a:off x="2425903" y="346557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ponto"/>
          <p:cNvSpPr/>
          <p:nvPr/>
        </p:nvSpPr>
        <p:spPr>
          <a:xfrm>
            <a:off x="2736799" y="2643530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0" name="ponto"/>
          <p:cNvSpPr/>
          <p:nvPr/>
        </p:nvSpPr>
        <p:spPr>
          <a:xfrm>
            <a:off x="3172054" y="2935224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1" name="ponto"/>
          <p:cNvSpPr/>
          <p:nvPr/>
        </p:nvSpPr>
        <p:spPr>
          <a:xfrm>
            <a:off x="3482950" y="2510942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2" name="ponto"/>
          <p:cNvSpPr/>
          <p:nvPr/>
        </p:nvSpPr>
        <p:spPr>
          <a:xfrm>
            <a:off x="2985516" y="2378354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3" name="ponto"/>
          <p:cNvSpPr/>
          <p:nvPr/>
        </p:nvSpPr>
        <p:spPr>
          <a:xfrm>
            <a:off x="3669487" y="3094330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4" name="ponto"/>
          <p:cNvSpPr/>
          <p:nvPr/>
        </p:nvSpPr>
        <p:spPr>
          <a:xfrm>
            <a:off x="2363724" y="2431390"/>
            <a:ext cx="118872" cy="1188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5" name="curva"/>
          <p:cNvSpPr/>
          <p:nvPr/>
        </p:nvSpPr>
        <p:spPr>
          <a:xfrm>
            <a:off x="1117397" y="2398014"/>
            <a:ext cx="2704795" cy="1180033"/>
          </a:xfrm>
          <a:prstGeom prst="line">
            <a:avLst/>
          </a:prstGeom>
          <a:noFill/>
          <a:ln w="22225">
            <a:solidFill>
              <a:srgbClr val="16213E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868680" y="3904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spam   </a:t>
            </a:r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não spam   </a:t>
            </a:r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fronteira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spam ou não spam · cliente vai cancelar? · crédito aprovado ou negado</a:t>
            </a:r>
            <a:endParaRPr lang="en-US" sz="1350" dirty="0"/>
          </a:p>
        </p:txBody>
      </p:sp>
      <p:sp>
        <p:nvSpPr>
          <p:cNvPr id="28" name="Regressão"/>
          <p:cNvSpPr/>
          <p:nvPr/>
        </p:nvSpPr>
        <p:spPr>
          <a:xfrm>
            <a:off x="4754880" y="123444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29" name="Regressão círculo"/>
          <p:cNvSpPr/>
          <p:nvPr/>
        </p:nvSpPr>
        <p:spPr>
          <a:xfrm>
            <a:off x="5029200" y="14630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Regressão" descr="Regress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022" y="1635862"/>
            <a:ext cx="294437" cy="294437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806440" y="1435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580644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um número</a:t>
            </a:r>
            <a:endParaRPr lang="en-US" sz="1400" dirty="0"/>
          </a:p>
        </p:txBody>
      </p:sp>
      <p:sp>
        <p:nvSpPr>
          <p:cNvPr id="33" name="eixo y"/>
          <p:cNvSpPr/>
          <p:nvPr/>
        </p:nvSpPr>
        <p:spPr>
          <a:xfrm>
            <a:off x="5166360" y="2331720"/>
            <a:ext cx="914" cy="13258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4" name="eixo x"/>
          <p:cNvSpPr/>
          <p:nvPr/>
        </p:nvSpPr>
        <p:spPr>
          <a:xfrm>
            <a:off x="5166360" y="3657600"/>
            <a:ext cx="310896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903720" y="3694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(m²)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5239512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1050" dirty="0"/>
          </a:p>
        </p:txBody>
      </p:sp>
      <p:sp>
        <p:nvSpPr>
          <p:cNvPr id="37" name="ponto"/>
          <p:cNvSpPr/>
          <p:nvPr/>
        </p:nvSpPr>
        <p:spPr>
          <a:xfrm>
            <a:off x="5355641" y="3412541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8" name="ponto"/>
          <p:cNvSpPr/>
          <p:nvPr/>
        </p:nvSpPr>
        <p:spPr>
          <a:xfrm>
            <a:off x="5666537" y="3226918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9" name="ponto"/>
          <p:cNvSpPr/>
          <p:nvPr/>
        </p:nvSpPr>
        <p:spPr>
          <a:xfrm>
            <a:off x="5977433" y="3279953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0" name="ponto"/>
          <p:cNvSpPr/>
          <p:nvPr/>
        </p:nvSpPr>
        <p:spPr>
          <a:xfrm>
            <a:off x="6288329" y="3014777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1" name="ponto"/>
          <p:cNvSpPr/>
          <p:nvPr/>
        </p:nvSpPr>
        <p:spPr>
          <a:xfrm>
            <a:off x="6661404" y="2988259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2" name="ponto"/>
          <p:cNvSpPr/>
          <p:nvPr/>
        </p:nvSpPr>
        <p:spPr>
          <a:xfrm>
            <a:off x="6972300" y="2776118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3" name="ponto"/>
          <p:cNvSpPr/>
          <p:nvPr/>
        </p:nvSpPr>
        <p:spPr>
          <a:xfrm>
            <a:off x="7283196" y="2802636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4" name="ponto"/>
          <p:cNvSpPr/>
          <p:nvPr/>
        </p:nvSpPr>
        <p:spPr>
          <a:xfrm>
            <a:off x="7594092" y="2537460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5" name="ponto"/>
          <p:cNvSpPr/>
          <p:nvPr/>
        </p:nvSpPr>
        <p:spPr>
          <a:xfrm>
            <a:off x="7904988" y="2484425"/>
            <a:ext cx="118872" cy="1188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6" name="curva"/>
          <p:cNvSpPr/>
          <p:nvPr/>
        </p:nvSpPr>
        <p:spPr>
          <a:xfrm flipH="1">
            <a:off x="5259629" y="2464308"/>
            <a:ext cx="2891333" cy="1060704"/>
          </a:xfrm>
          <a:prstGeom prst="line">
            <a:avLst/>
          </a:prstGeom>
          <a:noFill/>
          <a:ln w="25400">
            <a:solidFill>
              <a:srgbClr val="16213E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166360" y="3904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imóveis   </a:t>
            </a:r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reta aprendida</a:t>
            </a:r>
            <a:endParaRPr lang="en-US" sz="1150" dirty="0"/>
          </a:p>
        </p:txBody>
      </p:sp>
      <p:sp>
        <p:nvSpPr>
          <p:cNvPr id="48" name="Text 44"/>
          <p:cNvSpPr txBox="1"/>
          <p:nvPr/>
        </p:nvSpPr>
        <p:spPr>
          <a:xfrm>
            <a:off x="502920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preço de um imóvel · temperatura de amanhã · vendas do mês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Vocabulário essencial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(m²)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Bairro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(R$)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Jardins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Vila Nova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chave features"/>
          <p:cNvSpPr/>
          <p:nvPr/>
        </p:nvSpPr>
        <p:spPr>
          <a:xfrm>
            <a:off x="502920" y="3291840"/>
            <a:ext cx="3566160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6" name="chave target"/>
          <p:cNvSpPr/>
          <p:nvPr/>
        </p:nvSpPr>
        <p:spPr>
          <a:xfrm>
            <a:off x="4160520" y="3291840"/>
            <a:ext cx="1371600" cy="914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383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variáveis de entrada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prever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linha é um imóvel novo: o modelo usa o que aprendeu nas linhas de cima para prever o preço.</a:t>
            </a:r>
            <a:endParaRPr lang="en-US" sz="1350" dirty="0"/>
          </a:p>
        </p:txBody>
      </p:sp>
      <p:sp>
        <p:nvSpPr>
          <p:cNvPr id="10" name="Exemplo círculo"/>
          <p:cNvSpPr/>
          <p:nvPr/>
        </p:nvSpPr>
        <p:spPr>
          <a:xfrm>
            <a:off x="5943600" y="1280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Exemplo" descr="Exemp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733" y="14282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1234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15636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da tabela (um registro)</a:t>
            </a:r>
            <a:endParaRPr lang="en-US" sz="1300" dirty="0"/>
          </a:p>
        </p:txBody>
      </p:sp>
      <p:sp>
        <p:nvSpPr>
          <p:cNvPr id="14" name="Modelo círculo"/>
          <p:cNvSpPr/>
          <p:nvPr/>
        </p:nvSpPr>
        <p:spPr>
          <a:xfrm>
            <a:off x="5943600" y="21305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odelo" descr="Mode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733" y="227868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400" y="2084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24140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o algoritmo aprende</a:t>
            </a:r>
            <a:endParaRPr lang="en-US" sz="1300" dirty="0"/>
          </a:p>
        </p:txBody>
      </p:sp>
      <p:sp>
        <p:nvSpPr>
          <p:cNvPr id="18" name="Treinamento círculo"/>
          <p:cNvSpPr/>
          <p:nvPr/>
        </p:nvSpPr>
        <p:spPr>
          <a:xfrm>
            <a:off x="5943600" y="298094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Treinamento" descr="Treinamen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33" y="3129077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629400" y="29352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629400" y="3264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aprender com os exemplos</a:t>
            </a:r>
            <a:endParaRPr lang="en-US" sz="1300" dirty="0"/>
          </a:p>
        </p:txBody>
      </p:sp>
      <p:sp>
        <p:nvSpPr>
          <p:cNvPr id="22" name="Predição círculo"/>
          <p:cNvSpPr/>
          <p:nvPr/>
        </p:nvSpPr>
        <p:spPr>
          <a:xfrm>
            <a:off x="5943600" y="383133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Predição" descr="Predi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3979469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29400" y="37856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629400" y="4114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do modelo para um caso novo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um projeto de ML</a:t>
            </a:r>
            <a:endParaRPr lang="en-US" sz="2600" dirty="0"/>
          </a:p>
        </p:txBody>
      </p:sp>
      <p:sp>
        <p:nvSpPr>
          <p:cNvPr id="4" name="Definir o problema círculo"/>
          <p:cNvSpPr/>
          <p:nvPr/>
        </p:nvSpPr>
        <p:spPr>
          <a:xfrm>
            <a:off x="754380" y="13258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Definir o problema" descr="Definir o probl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235" y="1535735"/>
            <a:ext cx="357530" cy="357530"/>
          </a:xfrm>
          <a:prstGeom prst="rect">
            <a:avLst/>
          </a:prstGeom>
        </p:spPr>
      </p:pic>
      <p:pic>
        <p:nvPicPr>
          <p:cNvPr id="6" name="seta" descr="próxima etap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4" y="162306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problema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pergunta queremos responder?</a:t>
            </a:r>
            <a:endParaRPr lang="en-US" sz="1250" dirty="0"/>
          </a:p>
        </p:txBody>
      </p:sp>
      <p:sp>
        <p:nvSpPr>
          <p:cNvPr id="10" name="Coletar dados círculo"/>
          <p:cNvSpPr/>
          <p:nvPr/>
        </p:nvSpPr>
        <p:spPr>
          <a:xfrm>
            <a:off x="2125980" y="13258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Coletar dados" descr="Coletar d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835" y="1535735"/>
            <a:ext cx="357530" cy="357530"/>
          </a:xfrm>
          <a:prstGeom prst="rect">
            <a:avLst/>
          </a:prstGeom>
        </p:spPr>
      </p:pic>
      <p:pic>
        <p:nvPicPr>
          <p:cNvPr id="12" name="seta" descr="próxima etap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804" y="162306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8745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18745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 dados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18745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planilhas, APIs, sensores</a:t>
            </a:r>
            <a:endParaRPr lang="en-US" sz="1250" dirty="0"/>
          </a:p>
        </p:txBody>
      </p:sp>
      <p:sp>
        <p:nvSpPr>
          <p:cNvPr id="16" name="Preparar os dados círculo"/>
          <p:cNvSpPr/>
          <p:nvPr/>
        </p:nvSpPr>
        <p:spPr>
          <a:xfrm>
            <a:off x="3497580" y="13258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Preparar os dados" descr="Preparar os da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435" y="1535735"/>
            <a:ext cx="357530" cy="357530"/>
          </a:xfrm>
          <a:prstGeom prst="rect">
            <a:avLst/>
          </a:prstGeom>
        </p:spPr>
      </p:pic>
      <p:pic>
        <p:nvPicPr>
          <p:cNvPr id="18" name="seta" descr="próxima etap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404" y="1623060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2461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32461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os dados</a:t>
            </a:r>
            <a:endParaRPr lang="en-US" sz="1450" dirty="0"/>
          </a:p>
        </p:txBody>
      </p:sp>
      <p:sp>
        <p:nvSpPr>
          <p:cNvPr id="21" name="Text 13"/>
          <p:cNvSpPr txBox="1"/>
          <p:nvPr/>
        </p:nvSpPr>
        <p:spPr>
          <a:xfrm>
            <a:off x="32461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Limpar, tratar faltantes, transformar</a:t>
            </a:r>
            <a:endParaRPr lang="en-US" sz="1250" dirty="0"/>
          </a:p>
        </p:txBody>
      </p:sp>
      <p:sp>
        <p:nvSpPr>
          <p:cNvPr id="22" name="Treinar o modelo círculo"/>
          <p:cNvSpPr/>
          <p:nvPr/>
        </p:nvSpPr>
        <p:spPr>
          <a:xfrm>
            <a:off x="4869180" y="13258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Treinar o modelo" descr="Treinar o model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035" y="1535735"/>
            <a:ext cx="357530" cy="357530"/>
          </a:xfrm>
          <a:prstGeom prst="rect">
            <a:avLst/>
          </a:prstGeom>
        </p:spPr>
      </p:pic>
      <p:pic>
        <p:nvPicPr>
          <p:cNvPr id="24" name="seta" descr="próxima etap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004" y="1623060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6177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46177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o modelo</a:t>
            </a:r>
            <a:endParaRPr lang="en-US" sz="1450" dirty="0"/>
          </a:p>
        </p:txBody>
      </p:sp>
      <p:sp>
        <p:nvSpPr>
          <p:cNvPr id="27" name="Text 17"/>
          <p:cNvSpPr txBox="1"/>
          <p:nvPr/>
        </p:nvSpPr>
        <p:spPr>
          <a:xfrm>
            <a:off x="46177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aprende com os exemplos</a:t>
            </a:r>
            <a:endParaRPr lang="en-US" sz="1250" dirty="0"/>
          </a:p>
        </p:txBody>
      </p:sp>
      <p:sp>
        <p:nvSpPr>
          <p:cNvPr id="28" name="Avaliar círculo"/>
          <p:cNvSpPr/>
          <p:nvPr/>
        </p:nvSpPr>
        <p:spPr>
          <a:xfrm>
            <a:off x="6240780" y="13258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Avaliar" descr="Avali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635" y="1535735"/>
            <a:ext cx="357530" cy="357530"/>
          </a:xfrm>
          <a:prstGeom prst="rect">
            <a:avLst/>
          </a:prstGeom>
        </p:spPr>
      </p:pic>
      <p:pic>
        <p:nvPicPr>
          <p:cNvPr id="30" name="seta" descr="próxima etap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8604" y="1623060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9893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59893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</a:t>
            </a:r>
            <a:endParaRPr lang="en-US" sz="1450" dirty="0"/>
          </a:p>
        </p:txBody>
      </p:sp>
      <p:sp>
        <p:nvSpPr>
          <p:cNvPr id="33" name="Text 21"/>
          <p:cNvSpPr txBox="1"/>
          <p:nvPr/>
        </p:nvSpPr>
        <p:spPr>
          <a:xfrm>
            <a:off x="59893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dados que o modelo não viu</a:t>
            </a:r>
            <a:endParaRPr lang="en-US" sz="1250" dirty="0"/>
          </a:p>
        </p:txBody>
      </p:sp>
      <p:sp>
        <p:nvSpPr>
          <p:cNvPr id="34" name="Colocar em uso círculo"/>
          <p:cNvSpPr/>
          <p:nvPr/>
        </p:nvSpPr>
        <p:spPr>
          <a:xfrm>
            <a:off x="7612380" y="13258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Colocar em uso" descr="Colocar em us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2235" y="1535735"/>
            <a:ext cx="357530" cy="35753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36092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73609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em uso</a:t>
            </a:r>
            <a:endParaRPr lang="en-US" sz="1450" dirty="0"/>
          </a:p>
        </p:txBody>
      </p:sp>
      <p:sp>
        <p:nvSpPr>
          <p:cNvPr id="38" name="Text 25"/>
          <p:cNvSpPr txBox="1"/>
          <p:nvPr/>
        </p:nvSpPr>
        <p:spPr>
          <a:xfrm>
            <a:off x="73609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monitoramento contínuo</a:t>
            </a:r>
            <a:endParaRPr lang="en-US" sz="1250" dirty="0"/>
          </a:p>
        </p:txBody>
      </p:sp>
      <p:sp>
        <p:nvSpPr>
          <p:cNvPr id="39" name="destaque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0" name="tempo círculo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tempo" descr="temp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" y="4229100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2344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os dados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costuma consumir a maior parte do tempo de um projeto.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e teste</a:t>
            </a:r>
            <a:endParaRPr lang="en-US" sz="2600" dirty="0"/>
          </a:p>
        </p:txBody>
      </p:sp>
      <p:sp>
        <p:nvSpPr>
          <p:cNvPr id="4" name="treino 80"/>
          <p:cNvSpPr/>
          <p:nvPr/>
        </p:nvSpPr>
        <p:spPr>
          <a:xfrm>
            <a:off x="457200" y="1280160"/>
            <a:ext cx="6583680" cy="6858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ste 20"/>
          <p:cNvSpPr/>
          <p:nvPr/>
        </p:nvSpPr>
        <p:spPr>
          <a:xfrm>
            <a:off x="7040880" y="1280160"/>
            <a:ext cx="1645920" cy="685800"/>
          </a:xfrm>
          <a:prstGeom prst="rect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 ·  80% dos dados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 ·  20%</a:t>
            </a:r>
            <a:endParaRPr lang="en-US" sz="1500" dirty="0"/>
          </a:p>
        </p:txBody>
      </p:sp>
      <p:sp>
        <p:nvSpPr>
          <p:cNvPr id="8" name="Dados de treino"/>
          <p:cNvSpPr/>
          <p:nvPr/>
        </p:nvSpPr>
        <p:spPr>
          <a:xfrm>
            <a:off x="45720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Dados de treino círculo"/>
          <p:cNvSpPr/>
          <p:nvPr/>
        </p:nvSpPr>
        <p:spPr>
          <a:xfrm>
            <a:off x="68580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ados de treino" descr="Dados de trei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264170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treino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estuda esses exemplos para aprender os padrões.</a:t>
            </a:r>
            <a:endParaRPr lang="en-US" sz="1400" dirty="0"/>
          </a:p>
        </p:txBody>
      </p:sp>
      <p:sp>
        <p:nvSpPr>
          <p:cNvPr id="13" name="Dados de teste"/>
          <p:cNvSpPr/>
          <p:nvPr/>
        </p:nvSpPr>
        <p:spPr>
          <a:xfrm>
            <a:off x="466344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Dados de teste círculo"/>
          <p:cNvSpPr/>
          <p:nvPr/>
        </p:nvSpPr>
        <p:spPr>
          <a:xfrm>
            <a:off x="4892040" y="2468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Dados de teste" descr="Dados de tes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862" y="264170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715000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teste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Ficam guardados e só servem para medir o modelo no fim.</a:t>
            </a:r>
            <a:endParaRPr lang="en-US" sz="1400" dirty="0"/>
          </a:p>
        </p:txBody>
      </p:sp>
      <p:sp>
        <p:nvSpPr>
          <p:cNvPr id="18" name="analogia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19" name="analogia círculo"/>
          <p:cNvSpPr/>
          <p:nvPr/>
        </p:nvSpPr>
        <p:spPr>
          <a:xfrm>
            <a:off x="685800" y="3840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nalogia" descr="analog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98907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361188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exercícios é o treino; a prova, com questões novas, é o teste. Se a prova repetisse a lista, não daria para saber se o aluno aprendeu ou só decorou.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 x overfitting</a:t>
            </a:r>
            <a:endParaRPr lang="en-US" sz="2600" dirty="0"/>
          </a:p>
        </p:txBody>
      </p:sp>
      <p:sp>
        <p:nvSpPr>
          <p:cNvPr id="4" name="Underfitting"/>
          <p:cNvSpPr/>
          <p:nvPr/>
        </p:nvSpPr>
        <p:spPr>
          <a:xfrm>
            <a:off x="45720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eixo y"/>
          <p:cNvSpPr/>
          <p:nvPr/>
        </p:nvSpPr>
        <p:spPr>
          <a:xfrm>
            <a:off x="731520" y="1508760"/>
            <a:ext cx="914" cy="14630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" name="eixo x"/>
          <p:cNvSpPr/>
          <p:nvPr/>
        </p:nvSpPr>
        <p:spPr>
          <a:xfrm>
            <a:off x="731520" y="2971800"/>
            <a:ext cx="201168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7" name="ponto"/>
          <p:cNvSpPr/>
          <p:nvPr/>
        </p:nvSpPr>
        <p:spPr>
          <a:xfrm>
            <a:off x="837590" y="247802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8" name="ponto"/>
          <p:cNvSpPr/>
          <p:nvPr/>
        </p:nvSpPr>
        <p:spPr>
          <a:xfrm>
            <a:off x="1038758" y="211226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9" name="ponto"/>
          <p:cNvSpPr/>
          <p:nvPr/>
        </p:nvSpPr>
        <p:spPr>
          <a:xfrm>
            <a:off x="1239926" y="200985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0" name="ponto"/>
          <p:cNvSpPr/>
          <p:nvPr/>
        </p:nvSpPr>
        <p:spPr>
          <a:xfrm>
            <a:off x="1441094" y="1673352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1" name="ponto"/>
          <p:cNvSpPr/>
          <p:nvPr/>
        </p:nvSpPr>
        <p:spPr>
          <a:xfrm>
            <a:off x="1682496" y="177576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2" name="ponto"/>
          <p:cNvSpPr/>
          <p:nvPr/>
        </p:nvSpPr>
        <p:spPr>
          <a:xfrm>
            <a:off x="1883664" y="162946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3" name="ponto"/>
          <p:cNvSpPr/>
          <p:nvPr/>
        </p:nvSpPr>
        <p:spPr>
          <a:xfrm>
            <a:off x="2084832" y="1951330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4" name="ponto"/>
          <p:cNvSpPr/>
          <p:nvPr/>
        </p:nvSpPr>
        <p:spPr>
          <a:xfrm>
            <a:off x="2286000" y="2068373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ponto"/>
          <p:cNvSpPr/>
          <p:nvPr/>
        </p:nvSpPr>
        <p:spPr>
          <a:xfrm>
            <a:off x="2487168" y="250728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curva"/>
          <p:cNvSpPr/>
          <p:nvPr/>
        </p:nvSpPr>
        <p:spPr>
          <a:xfrm flipH="1">
            <a:off x="811987" y="2093976"/>
            <a:ext cx="1850746" cy="117043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demais: não captura o padrão. Erra no treino e no teste.</a:t>
            </a:r>
            <a:endParaRPr lang="en-US" sz="1400" dirty="0"/>
          </a:p>
        </p:txBody>
      </p:sp>
      <p:sp>
        <p:nvSpPr>
          <p:cNvPr id="19" name="Bom ajuste"/>
          <p:cNvSpPr/>
          <p:nvPr/>
        </p:nvSpPr>
        <p:spPr>
          <a:xfrm>
            <a:off x="329184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eixo y"/>
          <p:cNvSpPr/>
          <p:nvPr/>
        </p:nvSpPr>
        <p:spPr>
          <a:xfrm>
            <a:off x="3566160" y="1508760"/>
            <a:ext cx="914" cy="14630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1" name="eixo x"/>
          <p:cNvSpPr/>
          <p:nvPr/>
        </p:nvSpPr>
        <p:spPr>
          <a:xfrm>
            <a:off x="3566160" y="2971800"/>
            <a:ext cx="201168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2" name="ponto"/>
          <p:cNvSpPr/>
          <p:nvPr/>
        </p:nvSpPr>
        <p:spPr>
          <a:xfrm>
            <a:off x="3672230" y="247802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ponto"/>
          <p:cNvSpPr/>
          <p:nvPr/>
        </p:nvSpPr>
        <p:spPr>
          <a:xfrm>
            <a:off x="3873398" y="211226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4" name="ponto"/>
          <p:cNvSpPr/>
          <p:nvPr/>
        </p:nvSpPr>
        <p:spPr>
          <a:xfrm>
            <a:off x="4074566" y="200985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ponto"/>
          <p:cNvSpPr/>
          <p:nvPr/>
        </p:nvSpPr>
        <p:spPr>
          <a:xfrm>
            <a:off x="4275734" y="1673352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6" name="ponto"/>
          <p:cNvSpPr/>
          <p:nvPr/>
        </p:nvSpPr>
        <p:spPr>
          <a:xfrm>
            <a:off x="4517136" y="177576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7" name="ponto"/>
          <p:cNvSpPr/>
          <p:nvPr/>
        </p:nvSpPr>
        <p:spPr>
          <a:xfrm>
            <a:off x="4718304" y="162946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8" name="ponto"/>
          <p:cNvSpPr/>
          <p:nvPr/>
        </p:nvSpPr>
        <p:spPr>
          <a:xfrm>
            <a:off x="4919472" y="1951330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9" name="ponto"/>
          <p:cNvSpPr/>
          <p:nvPr/>
        </p:nvSpPr>
        <p:spPr>
          <a:xfrm>
            <a:off x="5120640" y="2068373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0" name="ponto"/>
          <p:cNvSpPr/>
          <p:nvPr/>
        </p:nvSpPr>
        <p:spPr>
          <a:xfrm>
            <a:off x="5321808" y="250728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1" name="curva"/>
          <p:cNvSpPr/>
          <p:nvPr/>
        </p:nvSpPr>
        <p:spPr>
          <a:xfrm flipH="1">
            <a:off x="3646627" y="2280657"/>
            <a:ext cx="150876" cy="229946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2" name="curva"/>
          <p:cNvSpPr/>
          <p:nvPr/>
        </p:nvSpPr>
        <p:spPr>
          <a:xfrm flipH="1">
            <a:off x="3797503" y="2091530"/>
            <a:ext cx="150876" cy="189127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3" name="curva"/>
          <p:cNvSpPr/>
          <p:nvPr/>
        </p:nvSpPr>
        <p:spPr>
          <a:xfrm flipH="1">
            <a:off x="3948379" y="1943221"/>
            <a:ext cx="150876" cy="148308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4" name="curva"/>
          <p:cNvSpPr/>
          <p:nvPr/>
        </p:nvSpPr>
        <p:spPr>
          <a:xfrm flipH="1">
            <a:off x="4099255" y="1835732"/>
            <a:ext cx="150876" cy="10749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5" name="curva"/>
          <p:cNvSpPr/>
          <p:nvPr/>
        </p:nvSpPr>
        <p:spPr>
          <a:xfrm flipH="1">
            <a:off x="4250131" y="1769061"/>
            <a:ext cx="150876" cy="66671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6" name="curva"/>
          <p:cNvSpPr/>
          <p:nvPr/>
        </p:nvSpPr>
        <p:spPr>
          <a:xfrm flipH="1">
            <a:off x="4401007" y="1743209"/>
            <a:ext cx="150876" cy="25852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7" name="curva"/>
          <p:cNvSpPr/>
          <p:nvPr/>
        </p:nvSpPr>
        <p:spPr>
          <a:xfrm>
            <a:off x="4551883" y="1743209"/>
            <a:ext cx="150876" cy="14967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8" name="curva"/>
          <p:cNvSpPr/>
          <p:nvPr/>
        </p:nvSpPr>
        <p:spPr>
          <a:xfrm>
            <a:off x="4702759" y="1758176"/>
            <a:ext cx="150876" cy="55786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9" name="curva"/>
          <p:cNvSpPr/>
          <p:nvPr/>
        </p:nvSpPr>
        <p:spPr>
          <a:xfrm>
            <a:off x="4853635" y="1813962"/>
            <a:ext cx="150876" cy="96605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0" name="curva"/>
          <p:cNvSpPr/>
          <p:nvPr/>
        </p:nvSpPr>
        <p:spPr>
          <a:xfrm>
            <a:off x="5004511" y="1910566"/>
            <a:ext cx="150876" cy="137423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1" name="curva"/>
          <p:cNvSpPr/>
          <p:nvPr/>
        </p:nvSpPr>
        <p:spPr>
          <a:xfrm>
            <a:off x="5155387" y="2047990"/>
            <a:ext cx="150876" cy="178242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2" name="curva"/>
          <p:cNvSpPr/>
          <p:nvPr/>
        </p:nvSpPr>
        <p:spPr>
          <a:xfrm>
            <a:off x="5306263" y="2226232"/>
            <a:ext cx="150876" cy="219061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6616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ajuste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356616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 padrão geral e funciona bem com dados novos.</a:t>
            </a:r>
            <a:endParaRPr lang="en-US" sz="1400" dirty="0"/>
          </a:p>
        </p:txBody>
      </p:sp>
      <p:sp>
        <p:nvSpPr>
          <p:cNvPr id="45" name="Overfitting"/>
          <p:cNvSpPr/>
          <p:nvPr/>
        </p:nvSpPr>
        <p:spPr>
          <a:xfrm>
            <a:off x="612648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6" name="eixo y"/>
          <p:cNvSpPr/>
          <p:nvPr/>
        </p:nvSpPr>
        <p:spPr>
          <a:xfrm>
            <a:off x="6400800" y="1508760"/>
            <a:ext cx="914" cy="14630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7" name="eixo x"/>
          <p:cNvSpPr/>
          <p:nvPr/>
        </p:nvSpPr>
        <p:spPr>
          <a:xfrm>
            <a:off x="6400800" y="2971800"/>
            <a:ext cx="2011680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8" name="ponto"/>
          <p:cNvSpPr/>
          <p:nvPr/>
        </p:nvSpPr>
        <p:spPr>
          <a:xfrm>
            <a:off x="6506870" y="247802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49" name="ponto"/>
          <p:cNvSpPr/>
          <p:nvPr/>
        </p:nvSpPr>
        <p:spPr>
          <a:xfrm>
            <a:off x="6708038" y="2112264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0" name="ponto"/>
          <p:cNvSpPr/>
          <p:nvPr/>
        </p:nvSpPr>
        <p:spPr>
          <a:xfrm>
            <a:off x="6909206" y="200985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1" name="ponto"/>
          <p:cNvSpPr/>
          <p:nvPr/>
        </p:nvSpPr>
        <p:spPr>
          <a:xfrm>
            <a:off x="7110374" y="1673352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2" name="ponto"/>
          <p:cNvSpPr/>
          <p:nvPr/>
        </p:nvSpPr>
        <p:spPr>
          <a:xfrm>
            <a:off x="7351776" y="177576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3" name="ponto"/>
          <p:cNvSpPr/>
          <p:nvPr/>
        </p:nvSpPr>
        <p:spPr>
          <a:xfrm>
            <a:off x="7552944" y="1629461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4" name="ponto"/>
          <p:cNvSpPr/>
          <p:nvPr/>
        </p:nvSpPr>
        <p:spPr>
          <a:xfrm>
            <a:off x="7754112" y="1951330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5" name="ponto"/>
          <p:cNvSpPr/>
          <p:nvPr/>
        </p:nvSpPr>
        <p:spPr>
          <a:xfrm>
            <a:off x="7955280" y="2068373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6" name="ponto"/>
          <p:cNvSpPr/>
          <p:nvPr/>
        </p:nvSpPr>
        <p:spPr>
          <a:xfrm>
            <a:off x="8156448" y="2507285"/>
            <a:ext cx="109728" cy="10972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7" name="curva"/>
          <p:cNvSpPr/>
          <p:nvPr/>
        </p:nvSpPr>
        <p:spPr>
          <a:xfrm flipH="1">
            <a:off x="6481267" y="2532888"/>
            <a:ext cx="80467" cy="263347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58" name="curva"/>
          <p:cNvSpPr/>
          <p:nvPr/>
        </p:nvSpPr>
        <p:spPr>
          <a:xfrm flipH="1">
            <a:off x="6561734" y="2167128"/>
            <a:ext cx="201168" cy="365760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59" name="curva"/>
          <p:cNvSpPr/>
          <p:nvPr/>
        </p:nvSpPr>
        <p:spPr>
          <a:xfrm flipH="1">
            <a:off x="6762902" y="2064715"/>
            <a:ext cx="201168" cy="102413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0" name="curva"/>
          <p:cNvSpPr/>
          <p:nvPr/>
        </p:nvSpPr>
        <p:spPr>
          <a:xfrm flipH="1">
            <a:off x="6964070" y="1728216"/>
            <a:ext cx="201168" cy="336499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1" name="curva"/>
          <p:cNvSpPr/>
          <p:nvPr/>
        </p:nvSpPr>
        <p:spPr>
          <a:xfrm>
            <a:off x="7165238" y="1728216"/>
            <a:ext cx="241402" cy="102413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2" name="curva"/>
          <p:cNvSpPr/>
          <p:nvPr/>
        </p:nvSpPr>
        <p:spPr>
          <a:xfrm flipH="1">
            <a:off x="7406640" y="1684325"/>
            <a:ext cx="201168" cy="146304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3" name="curva"/>
          <p:cNvSpPr/>
          <p:nvPr/>
        </p:nvSpPr>
        <p:spPr>
          <a:xfrm>
            <a:off x="7607808" y="1684325"/>
            <a:ext cx="201168" cy="321869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4" name="curva"/>
          <p:cNvSpPr/>
          <p:nvPr/>
        </p:nvSpPr>
        <p:spPr>
          <a:xfrm>
            <a:off x="7808976" y="2006194"/>
            <a:ext cx="201168" cy="117043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5" name="curva"/>
          <p:cNvSpPr/>
          <p:nvPr/>
        </p:nvSpPr>
        <p:spPr>
          <a:xfrm>
            <a:off x="8010144" y="2123237"/>
            <a:ext cx="201168" cy="438912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6" name="curva"/>
          <p:cNvSpPr/>
          <p:nvPr/>
        </p:nvSpPr>
        <p:spPr>
          <a:xfrm>
            <a:off x="8211312" y="2562149"/>
            <a:ext cx="120701" cy="336499"/>
          </a:xfrm>
          <a:prstGeom prst="line">
            <a:avLst/>
          </a:prstGeom>
          <a:noFill/>
          <a:ln w="3175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0080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64008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Decorou o treino, inclusive o ruído. Vai mal com dados novos.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medir se o modelo é bom</a:t>
            </a:r>
            <a:endParaRPr lang="en-US" sz="2600" dirty="0"/>
          </a:p>
        </p:txBody>
      </p:sp>
      <p:sp>
        <p:nvSpPr>
          <p:cNvPr id="4" name="destaque acurácia"/>
          <p:cNvSpPr/>
          <p:nvPr/>
        </p:nvSpPr>
        <p:spPr>
          <a:xfrm>
            <a:off x="457200" y="1234440"/>
            <a:ext cx="3291840" cy="342900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acurácia pode enganar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95% dos e-mails não são spam, um modelo que sempre responde "não é spam" acerta 95% e não encontra nenhum spam.</a:t>
            </a:r>
            <a:endParaRPr lang="en-US" sz="1450" dirty="0"/>
          </a:p>
        </p:txBody>
      </p:sp>
      <p:sp>
        <p:nvSpPr>
          <p:cNvPr id="8" name="Acurácia círculo"/>
          <p:cNvSpPr/>
          <p:nvPr/>
        </p:nvSpPr>
        <p:spPr>
          <a:xfrm>
            <a:off x="4069080" y="13075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curácia" descr="Acurá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557" y="1468069"/>
            <a:ext cx="273406" cy="27340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563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previsões corretas no total.</a:t>
            </a:r>
            <a:endParaRPr lang="en-US" sz="1400" dirty="0"/>
          </a:p>
        </p:txBody>
      </p:sp>
      <p:sp>
        <p:nvSpPr>
          <p:cNvPr id="12" name="Precisão círculo"/>
          <p:cNvSpPr/>
          <p:nvPr/>
        </p:nvSpPr>
        <p:spPr>
          <a:xfrm>
            <a:off x="4069080" y="2176272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Precisão" descr="Precis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557" y="2336749"/>
            <a:ext cx="273406" cy="2734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432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e-mails marcados como spam, quantos eram spam de verdade?</a:t>
            </a:r>
            <a:endParaRPr lang="en-US" sz="1400" dirty="0"/>
          </a:p>
        </p:txBody>
      </p:sp>
      <p:sp>
        <p:nvSpPr>
          <p:cNvPr id="16" name="Recall círculo"/>
          <p:cNvSpPr/>
          <p:nvPr/>
        </p:nvSpPr>
        <p:spPr>
          <a:xfrm>
            <a:off x="4069080" y="3044952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Recall" descr="Rec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57" y="3205429"/>
            <a:ext cx="273406" cy="2734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3009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todos os spams que existiam, quantos o modelo encontrou?</a:t>
            </a:r>
            <a:endParaRPr lang="en-US" sz="1400" dirty="0"/>
          </a:p>
        </p:txBody>
      </p:sp>
      <p:sp>
        <p:nvSpPr>
          <p:cNvPr id="20" name="Erro médio (regressão) círculo"/>
          <p:cNvSpPr/>
          <p:nvPr/>
        </p:nvSpPr>
        <p:spPr>
          <a:xfrm>
            <a:off x="4069080" y="3913632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Erro médio (regressão)" descr="Erro médio (regressão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57" y="4074109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médio (regressão)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4169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previsão erra o valor real, em média. Ex.: R$ 15 mil.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no dia a dia</a:t>
            </a:r>
            <a:endParaRPr lang="en-US" sz="2600" dirty="0"/>
          </a:p>
        </p:txBody>
      </p:sp>
      <p:sp>
        <p:nvSpPr>
          <p:cNvPr id="4" name="Recomendações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Recomendações círculo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Recomendações" descr="Recomendaç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277" y="162351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Filmes, músicas e produtos sugeridos pelo seu histórico</a:t>
            </a:r>
            <a:endParaRPr lang="en-US" sz="1400" dirty="0"/>
          </a:p>
        </p:txBody>
      </p:sp>
      <p:sp>
        <p:nvSpPr>
          <p:cNvPr id="9" name="Filtro de spam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Filtro de spam círculo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iltro de spam" descr="Filtro de sp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197" y="162351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spam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cada e-mail como spam ou não spam</a:t>
            </a:r>
            <a:endParaRPr lang="en-US" sz="1400" dirty="0"/>
          </a:p>
        </p:txBody>
      </p:sp>
      <p:sp>
        <p:nvSpPr>
          <p:cNvPr id="14" name="Fraude no cartão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Fraude no cartão círculo"/>
          <p:cNvSpPr/>
          <p:nvPr/>
        </p:nvSpPr>
        <p:spPr>
          <a:xfrm>
            <a:off x="6263640" y="1463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Fraude no cartão" descr="Fraude no car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117" y="162351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no cartão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compras fora do padrão do cliente</a:t>
            </a:r>
            <a:endParaRPr lang="en-US" sz="1400" dirty="0"/>
          </a:p>
        </p:txBody>
      </p:sp>
      <p:sp>
        <p:nvSpPr>
          <p:cNvPr id="19" name="Voz e imagem"/>
          <p:cNvSpPr/>
          <p:nvPr/>
        </p:nvSpPr>
        <p:spPr>
          <a:xfrm>
            <a:off x="45720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Voz e imagem círculo"/>
          <p:cNvSpPr/>
          <p:nvPr/>
        </p:nvSpPr>
        <p:spPr>
          <a:xfrm>
            <a:off x="685800" y="329184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Voz e imagem" descr="Voz e imag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" y="3452317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291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 imagem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voz, desbloqueio facial e tradução</a:t>
            </a:r>
            <a:endParaRPr lang="en-US" sz="1400" dirty="0"/>
          </a:p>
        </p:txBody>
      </p:sp>
      <p:sp>
        <p:nvSpPr>
          <p:cNvPr id="24" name="Previsão de demanda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Previsão de demanda círculo"/>
          <p:cNvSpPr/>
          <p:nvPr/>
        </p:nvSpPr>
        <p:spPr>
          <a:xfrm>
            <a:off x="3474720" y="32918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Previsão de demanda" descr="Previsão de dema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197" y="3452317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06240" y="3291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demanda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estoque comprar para a próxima semana</a:t>
            </a:r>
            <a:endParaRPr lang="en-US" sz="1400" dirty="0"/>
          </a:p>
        </p:txBody>
      </p:sp>
      <p:sp>
        <p:nvSpPr>
          <p:cNvPr id="29" name="Saúde"/>
          <p:cNvSpPr/>
          <p:nvPr/>
        </p:nvSpPr>
        <p:spPr>
          <a:xfrm>
            <a:off x="603504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aúde círculo"/>
          <p:cNvSpPr/>
          <p:nvPr/>
        </p:nvSpPr>
        <p:spPr>
          <a:xfrm>
            <a:off x="6263640" y="32918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Saúde" descr="Saú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117" y="3452317"/>
            <a:ext cx="273406" cy="27340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95160" y="3291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diagnóstico em exames de imagem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e ética</a:t>
            </a:r>
            <a:endParaRPr lang="en-US" sz="2600" dirty="0"/>
          </a:p>
        </p:txBody>
      </p:sp>
      <p:sp>
        <p:nvSpPr>
          <p:cNvPr id="4" name="Viés nos dados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Viés nos dados círculo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Viés nos dados" descr="Viés nos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82239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435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nos dados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075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histórico tem preconceito, o modelo aprende e repete</a:t>
            </a:r>
            <a:endParaRPr lang="en-US" sz="1400" dirty="0"/>
          </a:p>
        </p:txBody>
      </p:sp>
      <p:sp>
        <p:nvSpPr>
          <p:cNvPr id="9" name="Qualidade dos dados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Qualidade dos dados círculo"/>
          <p:cNvSpPr/>
          <p:nvPr/>
        </p:nvSpPr>
        <p:spPr>
          <a:xfrm>
            <a:off x="4937760" y="16002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Qualidade dos dados" descr="Qualidade dos d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2239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89320" y="1435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dados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075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entra, lixo sai: dado ruim gera modelo ruim</a:t>
            </a:r>
            <a:endParaRPr lang="en-US" sz="1400" dirty="0"/>
          </a:p>
        </p:txBody>
      </p:sp>
      <p:sp>
        <p:nvSpPr>
          <p:cNvPr id="14" name="Privacidade (LGPD)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Privacidade (LGPD) círculo"/>
          <p:cNvSpPr/>
          <p:nvPr/>
        </p:nvSpPr>
        <p:spPr>
          <a:xfrm>
            <a:off x="731520" y="3337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Privacidade (LGPD)" descr="Privacidade (LGPD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55975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172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 (LGPD)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8130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exigem base legal e finalidade clara</a:t>
            </a:r>
            <a:endParaRPr lang="en-US" sz="1400" dirty="0"/>
          </a:p>
        </p:txBody>
      </p:sp>
      <p:sp>
        <p:nvSpPr>
          <p:cNvPr id="19" name="Explicabilidade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Explicabilidade círculo"/>
          <p:cNvSpPr/>
          <p:nvPr/>
        </p:nvSpPr>
        <p:spPr>
          <a:xfrm>
            <a:off x="4937760" y="3337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Explicabilidade" descr="Explicabilida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55975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89320" y="3172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Explicabilidade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989320" y="38130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entender por que o modelo tomou cada decisão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da aula</a:t>
            </a:r>
            <a:endParaRPr lang="en-US" sz="2600" dirty="0"/>
          </a:p>
        </p:txBody>
      </p:sp>
      <p:sp>
        <p:nvSpPr>
          <p:cNvPr id="4" name="ideia 1"/>
          <p:cNvSpPr/>
          <p:nvPr/>
        </p:nvSpPr>
        <p:spPr>
          <a:xfrm>
            <a:off x="45720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22304F"/>
          </a:solidFill>
          <a:ln/>
        </p:spPr>
      </p:sp>
      <p:sp>
        <p:nvSpPr>
          <p:cNvPr id="5" name="número 1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é aprender padrões a partir de exemplos, não programar regras à mão.</a:t>
            </a:r>
            <a:endParaRPr lang="en-US" sz="1550" dirty="0"/>
          </a:p>
        </p:txBody>
      </p:sp>
      <p:sp>
        <p:nvSpPr>
          <p:cNvPr id="8" name="ideia 2"/>
          <p:cNvSpPr/>
          <p:nvPr/>
        </p:nvSpPr>
        <p:spPr>
          <a:xfrm>
            <a:off x="329184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22304F"/>
          </a:solidFill>
          <a:ln/>
        </p:spPr>
      </p:sp>
      <p:sp>
        <p:nvSpPr>
          <p:cNvPr id="9" name="número 2"/>
          <p:cNvSpPr/>
          <p:nvPr/>
        </p:nvSpPr>
        <p:spPr>
          <a:xfrm>
            <a:off x="35661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 usa respostas conhecidas; não supervisionado encontra grupos sozinho.</a:t>
            </a:r>
            <a:endParaRPr lang="en-US" sz="1550" dirty="0"/>
          </a:p>
        </p:txBody>
      </p:sp>
      <p:sp>
        <p:nvSpPr>
          <p:cNvPr id="12" name="ideia 3"/>
          <p:cNvSpPr/>
          <p:nvPr/>
        </p:nvSpPr>
        <p:spPr>
          <a:xfrm>
            <a:off x="6126480" y="13258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22304F"/>
          </a:solidFill>
          <a:ln/>
        </p:spPr>
      </p:sp>
      <p:sp>
        <p:nvSpPr>
          <p:cNvPr id="13" name="número 3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286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sempre com dados que o modelo nunca viu, e cuide da qualidade e da ética dos dados.</a:t>
            </a:r>
            <a:endParaRPr lang="en-US" sz="1550" dirty="0"/>
          </a:p>
        </p:txBody>
      </p:sp>
      <p:sp>
        <p:nvSpPr>
          <p:cNvPr id="16" name="perguntas círculo"/>
          <p:cNvSpPr/>
          <p:nvPr/>
        </p:nvSpPr>
        <p:spPr>
          <a:xfrm>
            <a:off x="457200" y="3977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perguntas" descr="pergu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4126230"/>
            <a:ext cx="297180" cy="2971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3444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encia de Dados">
  <a:themeElements>
    <a:clrScheme name="Ciencia de Dados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Ciencia de Dad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subject>PptxGenJS Presentation</dc:subject>
  <dc:creator>PptxGenJS</dc:creator>
  <cp:lastModifiedBy>PptxGenJS</cp:lastModifiedBy>
  <cp:revision>1</cp:revision>
  <dcterms:created xsi:type="dcterms:W3CDTF">2026-10-20T19:21:01Z</dcterms:created>
  <dcterms:modified xsi:type="dcterms:W3CDTF">2026-10-20T19:21:01Z</dcterms:modified>
</cp:coreProperties>
</file>